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설명 없이 바로 시연으로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모두 텍스트 입출력이고 되돌릴 수 있다는 점을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1부의 핵심. 다섯 행을 하나씩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실측값만 쓴다. 업계 전망이나 추정치는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60분 축약판에서도 빼지 않는다. PoC 와 현장의 차이를 만드는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1115568"/>
            <a:ext cx="3584448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FC8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1115568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20" kern="0" dirty="0">
                <a:solidFill>
                  <a:srgbClr val="DCE8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 · EDGE INTELLIGENCE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6276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챗봇을 넘어 </a:t>
            </a:r>
            <a:pPr indent="0" marL="0">
              <a:buNone/>
            </a:pPr>
            <a:r>
              <a:rPr lang="en-US" sz="5200" b="1" dirty="0">
                <a:solidFill>
                  <a:srgbClr val="E8A3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격전지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49808" y="3529584"/>
            <a:ext cx="1371600" cy="32004"/>
          </a:xfrm>
          <a:prstGeom prst="rect">
            <a:avLst/>
          </a:prstGeom>
          <a:solidFill>
            <a:srgbClr val="E8A3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37307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AI: From Chatbots to the Contested Ground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782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Phase 11 Step · 22 산출물 · 실측 데이터 기반 · LED 실습 포함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58704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→ 인지 → 판단 → 구동 → 운용  |  2026.10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97373" y="50749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97373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77917" y="5486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57262" y="433425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7262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7806" y="4745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45652" y="296265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5652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26196" y="3374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59105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56064" y="20025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849356" y="7955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49356" y="795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629900" y="1207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2615184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276148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 시프트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919472" y="3712464"/>
            <a:ext cx="6720840" cy="20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39136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Paradigm Shift · From Screen to Field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안의 AI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지난 3년, AI 는 텍스트를 주고받았다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안의 AI (On-Screen AI)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Chatbot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묻고 모델이 답한다. 대화가 끝나면 세상에는 아무것도 남지 않는다.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코파일럿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쓰던 것을 이어서 쓴다. 최종 판단과 책임은 사람이 진다.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것을 짧게 만든다. 요약이 틀려도 원본을 다시 읽으면 된다.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틀려도 되돌릴 수 있다.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다시 생성하면 그만이다.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밖으로 나오면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규칙이 바뀐다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481328"/>
            <a:ext cx="4352544" cy="5669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7095744" y="1481328"/>
            <a:ext cx="4526280" cy="56692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0" y="1481328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챗봇형 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95744" y="14813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0482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48256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95744" y="20482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상태 변화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6151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615184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261518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182112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1821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허용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18211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초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1821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밀리초 (제어)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749040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749040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입력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95744" y="37490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센서가 계속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315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비용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315968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어색한 문장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95744" y="43159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기구 파손 · 안전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6928" y="48828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230368"/>
            <a:ext cx="1105509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5230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“모터는 Ctrl+Z 가 없습니다”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1-3.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격전지인가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먼저 들어간 쪽이 자리를 차지한다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장벽의 세 층 (Three Barriers)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진입 장벽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Structural Barrier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소프트웨어만으로 되지 않는다. 하드웨어·제어·AI 가 동시에 필요하다.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현장에만 있는 데이터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Field-Only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데이터셋으로 만들 수 없다. 그 공장, 그 조명, 그 카메라의 데이터다.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교체 비용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Switching Cost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설비에 한 번 박히면 수년을 간다. 늦게 들어가면 자리가 없다.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장벽은 서로를 강화한다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어려워서 늦고, 늦어서 데이터가 없고, 데이터가 없어서 더 어렵다.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1-4.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세 가지가 동시에 가능해졌다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지금을 만든 세 조건 (Enablers)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추론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Inference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보드에서 비전 모델이 돈다. 오늘 시연한 것이 그것이다.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비전·언어 통합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Vision-Language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보고 말로 답한다. 규칙으로 못 쓰던 판단이 가능해졌다.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On-Device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없이, 데이터를 밖으로 내보내지 않고 판단한다.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장부터는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추정이 아니라 이 보드에서 실제로 잰 값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보여드립니다.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 · 1.2.1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진단 — 산출물 예시: 하드웨어 적합성 판정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0F7B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Observe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3F1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1.2 환경 진단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판별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GB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엣지 보드에서 무엇이 되나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Orin Nano 8GB · 인터넷 연결 없이 · 실제 측정값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온디바이스에서 비전 모델이 실제로 돕니다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 환경: Jetson Orin Nano Super 8GB · JetPack 6 · IMX219 · Qwen2.5-VL-3B Q4_K_M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1.2.1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395728"/>
            <a:ext cx="5394960" cy="384048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2395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163824" y="2395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27797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163824" y="27797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3B (Q4_K_M)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3244291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255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163824" y="32552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2.59 GB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" y="3719779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7824" y="37307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메모리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163824" y="37307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 GB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4195267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7824" y="4206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판별 정확도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163824" y="4206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12색 전부 한 칸 이내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" y="4670755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7824" y="46817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지연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163824" y="46817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~ 3.3 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5146243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77824" y="51572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163824" y="51572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49808" y="5621731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6" name="Shape 44"/>
          <p:cNvSpPr/>
          <p:nvPr/>
        </p:nvSpPr>
        <p:spPr>
          <a:xfrm>
            <a:off x="6400800" y="2395728"/>
            <a:ext cx="5029200" cy="1389888"/>
          </a:xfrm>
          <a:prstGeom prst="roundRect">
            <a:avLst>
              <a:gd name="adj" fmla="val 3289"/>
            </a:avLst>
          </a:prstGeom>
          <a:solidFill>
            <a:srgbClr val="F7FA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0256" y="2542032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3B 인가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620256" y="2889504"/>
            <a:ext cx="4590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는 적재되지만 운용 중 죽는다.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3B 가 더 빠르고 정확하며 유일하게 동작했다.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00800" y="3968496"/>
            <a:ext cx="5029200" cy="1389888"/>
          </a:xfrm>
          <a:prstGeom prst="roundRect">
            <a:avLst>
              <a:gd name="adj" fmla="val 3289"/>
            </a:avLst>
          </a:prstGeom>
          <a:solidFill>
            <a:srgbClr val="F7FA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20256" y="411480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전제인가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620256" y="4462272"/>
            <a:ext cx="4590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를 끄면 가용이 2.3GB → 6.4GB 가 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데스크톱이 떠 있으면 아무것도 올라가지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 · 1.2.2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진단 — 실패 사례: 데모는 되고 운용은 안 된 경우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Observe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7E4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1.2 환경 진단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3.7GB 전소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MiB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7B 는 죽었다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보드, 같은 모델 계열. 조건만 운용 상태로 바꿨을 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적재되는 것과 운용되는 것은 다릅니다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 환경: 동일 보드에서 카메라 파이프라인·제어 루프를 함께 가동한 상태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1.2.2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3401568" cy="1792224"/>
          </a:xfrm>
          <a:prstGeom prst="roundRect">
            <a:avLst>
              <a:gd name="adj" fmla="val 2551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2651760"/>
            <a:ext cx="420624" cy="420624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926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99616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적재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69264" y="32552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" y="376732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530 MB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151376" y="3127248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361688" y="2432304"/>
            <a:ext cx="3401568" cy="1792224"/>
          </a:xfrm>
          <a:prstGeom prst="roundRect">
            <a:avLst>
              <a:gd name="adj" fmla="val 2551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81144" y="2651760"/>
            <a:ext cx="420624" cy="42062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8114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카메라 · 제어 루프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81144" y="32552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89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견딤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4581144" y="376732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393 MB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763256" y="3127248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973568" y="2432304"/>
            <a:ext cx="3401568" cy="1792224"/>
          </a:xfrm>
          <a:prstGeom prst="roundRect">
            <a:avLst>
              <a:gd name="adj" fmla="val 2551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2651760"/>
            <a:ext cx="420624" cy="42062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19302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723376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추론 요청 1건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193024" y="32552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193024" y="376732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3.7GB 전소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9808" y="4462272"/>
            <a:ext cx="10698480" cy="1298448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" y="4590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놓쳤나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87552" y="4919472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인코딩에 필요한 연산 버퍼 약 700MB 가 들어갈 자리가 없다. 서버 단독으로는 적재되고, 카메라와 제어 루프까지도 견딘다. 그러나 추론 요청이 들어오는 순간 죽는다.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87552" y="5358384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새 모델을 검토할 때는 반드시 제어 루프를 함께 돌리면서 재야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1.1 · 1.1.2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대상 정의 — 점검표: 성공 신호가 거짓인 경우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0F7B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Observe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3F1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1.1 관측 대상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4건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성공처럼 보였지만 아니었던 것들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 모두 화면상으로는 정상이었다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근거로 “동작한다” 고 말할 것인가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모두 본 커리큘럼 제작 과정에서 실제로 겪은 사례입니다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1.1.2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706624" y="2432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성공처럼 보인 것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38544" y="24323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28163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28163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/dev/video0 존재, 캡처 성공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38544" y="28163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픽셀이 같은 값 (4100)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33723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서버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706624" y="3383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loaded, /health ok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38544" y="3383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요청에 사망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393923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3950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출력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706624" y="39502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통과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38544" y="39502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검증기가 5회 중 4회 거부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450616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77824" y="45171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706624" y="45171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30fps 로 잘 돎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638544" y="45171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폴백이 실패를 완전히 가림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507309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" y="5120640"/>
            <a:ext cx="10698480" cy="640080"/>
          </a:xfrm>
          <a:prstGeom prst="rect">
            <a:avLst/>
          </a:prstGeom>
          <a:solidFill>
            <a:srgbClr val="F7FAFB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해법 — </a:t>
            </a:r>
            <a:pPr indent="0" marL="0">
              <a:buNone/>
            </a:pPr>
            <a:r>
              <a:rPr lang="en-US" sz="12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직접 잰다.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픽셀 값, 사진 속 색, 실제 요청. 상태 표시가 아니라 결과물을 본다.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1-5.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요약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네 가지만 기억하면 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(Summary)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0759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0759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밖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63015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없다.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검증이 구조여야 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840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4533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64533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3330702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격전지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26789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05022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장벽 · 현장 데이터 · 락인.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늦으면 자리가 없다.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12180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6"/>
          <p:cNvSpPr/>
          <p:nvPr/>
        </p:nvSpPr>
        <p:spPr>
          <a:xfrm>
            <a:off x="7028307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28307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6094476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가능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90563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68796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엣지에서 비전 모델이 돈다.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없이.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595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4" name="Shape 22"/>
          <p:cNvSpPr/>
          <p:nvPr/>
        </p:nvSpPr>
        <p:spPr>
          <a:xfrm>
            <a:off x="9792081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92081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8858250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조건부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554337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32570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것과 운용되는 것은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어떤 구조로 만들어야 하는가.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2615184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276148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P-AI 아키텍처 해부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919472" y="3712464"/>
            <a:ext cx="6720840" cy="20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39136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 Architecture · Core Skeleton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구조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여섯 계층과 그 위를 흐르는 다섯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005840" cy="621792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72768" y="1389888"/>
            <a:ext cx="10049256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92224" y="13898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· 평가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3898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로그 · 골든셋 · 회귀 탐지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1005840" cy="621792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10312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72768" y="2103120"/>
            <a:ext cx="10049256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92224" y="2103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0312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루프 · 안전 · 기술 기록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816352"/>
            <a:ext cx="1005840" cy="621792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281635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72768" y="2816352"/>
            <a:ext cx="10049256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92224" y="28163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81635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VLM · 구조화 출력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529584"/>
            <a:ext cx="1005840" cy="62179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52958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572768" y="3529584"/>
            <a:ext cx="10049256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92224" y="352958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529584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· 센서 → 관측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242816"/>
            <a:ext cx="1005840" cy="621792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24281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72768" y="4242816"/>
            <a:ext cx="10049256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92224" y="42428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추상화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242816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계약 (capability contract)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956048"/>
            <a:ext cx="1005840" cy="62179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495604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572768" y="4956048"/>
            <a:ext cx="10049256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92224" y="49560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· 전송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9560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MCU · serial / SPI / WiFi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5724144"/>
            <a:ext cx="11055096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72414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규칙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계층은 아래 계층 없이 시험할 수 있어야 한다.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카메라가 없어도 L3~L5 를 개발할 수 있다.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구조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거시에서 미시로 쪼개는 계층 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3040" y="129844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과제를 시간 순서에 따라 거시에서 미시로 쪼개어, 무엇을 어떤 순서로 수행할지 정의하는 계층 축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9105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구조가 “그 일을 끝까지 가게 하는 힘” 이라면, 수직 구조는 “무엇을 어떤 순서로 하는가” 를 정하는 뼈대입니다.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75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103120" cy="78638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32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0048" y="2011680"/>
            <a:ext cx="89519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1216" y="210312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P-AI 구축 라이프사이클의 거시적 흐름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71216" y="24323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→ 인지 → 판단 → 구동 → 운용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7980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38528" y="3017520"/>
            <a:ext cx="2103120" cy="78638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38528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938528" y="3438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41648" y="3017520"/>
            <a:ext cx="75803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2816" y="310896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내부의 기능별 업무 단위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42816" y="34381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규칙 베이스라인, AI 판단 도입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95728" y="38039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4023360"/>
            <a:ext cx="2103120" cy="78638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10128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 STEP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10128" y="4443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과제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13248" y="4023360"/>
            <a:ext cx="62087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14416" y="41148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을 구성하는 구체적 실행 단위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14416" y="444398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지연 기준선 측정, A/B 비교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67328" y="48097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1728" y="5029200"/>
            <a:ext cx="2103120" cy="78638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81728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ACTIVITY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81728" y="54498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84848" y="5029200"/>
            <a:ext cx="483717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86016" y="51206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직접 수행되는 최소 단위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86016" y="5449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30스텝 루프 실행, 전송 횟수 집계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 ① 느린 판단과 빠른 제어를 분리한다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Physical AI 의 제1원칙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분리해야 하는가 (Why Separate)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척도가 다르다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 Scales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판단은 초 단위, 물리 제어는 밀리초 단위다. 하나로 묶으면 둘 다 망가진다.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양상이 다르다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 Failures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늦거나 틀릴 수 있다. 제어는 멈추면 안 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책임이 다르다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 Owners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할지는 모델이, 어떻게 할지는 MCU 가 정한다.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타이밍은 MCU 가 소유하고, 호스트는 의도만 보낸다.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3.1 · 3.1.2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베이스라인 — 산출물 예시: 종단 지연 기준선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3.1 규칙 베이스라인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배율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3,306 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ms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제어보다 97배 느리다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보드, 같은 루프에서 단계별로 나눠 측정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3초 걸리는데 LED 는 끊기지 않습니다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측정: argus:0 @640×480, 30~400 스텝 평균. 지연은 단계별로 분리 계측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3.1.2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25237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43200" y="2596896"/>
            <a:ext cx="6583680" cy="27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2596896"/>
            <a:ext cx="60540" cy="2743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0" y="25237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30.4 ms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090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추출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0" y="3163824"/>
            <a:ext cx="6583680" cy="27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0" y="3163824"/>
            <a:ext cx="32004" cy="2743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0" y="30906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 ms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판단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743200" y="3730752"/>
            <a:ext cx="6583680" cy="27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0" y="3730752"/>
            <a:ext cx="32004" cy="2743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0" y="36576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ms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224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판단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43200" y="4297680"/>
            <a:ext cx="6583680" cy="27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0" y="4297680"/>
            <a:ext cx="6583680" cy="27432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0" y="42245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3,306 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9808" y="4901184"/>
            <a:ext cx="10698480" cy="859536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7552" y="501091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동기로 부르면 0.3 fps · 비동기로 돌리면 30 fps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87552" y="534009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추론을 작업 스레드로 옮기고 decide() 가 마지막으로 완성된 명령을 즉시 반환하게 하면, 측정된 판단 시간은 0.0 ms 가 된다. 제어 루프는 30 fps 를 유지한다.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원리가 세 층에서 반복된다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하나의 원리가 세 번 나타난다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분리의 세 얼굴 (Three Faces of Separation)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점멸 타이밍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ms 아래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매번 켜고 끄면 USB 지연과 스케줄러 지터로 떨린다. MCU 가 소유한다.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판단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추론을 작업 스레드로 옮긴다. 제어 루프는 마지막 판단을 들고 계속 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흔들림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분해능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노이즈를 그대로 따라가면 LED 가 떤다. 이력으로 붙잡는다.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학습자가 “이거 앞에서 한 얘기 아닌가요” 라고 물으면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맞습니다. 그게 핵심입니다.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2-5.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 ② 출력은 검증을 통과해야 한다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모델이 지어낸 것이 하드웨어에 닿지 않도록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관문 (Three Gates)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강제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Decoding-time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단계에서 JSON 구조를 강제한다. 사후 파싱은 반드시 깨진다.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검증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Host-side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선언에 없는 장치·명령·범위 밖 값을 거부한다.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펌웨어 한계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MCU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범위를 MCU 가 다시 검사한다. 우회 경로가 없다.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중복이 아닌 이유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 경로가 서로 다르다.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선언은 안내문이고 펌웨어는 잠긴 문이다.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 · 3.2.1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도입 — 실패 사례: 계약이 갈라졌을 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7E4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3.2 AI 판단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화면상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30fps 정상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거부율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고장나 보이지 않았다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모델도 서버도 정상이었다. 계약을 두 곳에 적은 것이 원인이었다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폴백이 실패를 완전히 가렸습니다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발견 경로: policy.stats 의 failed 카운터. 화면만 보고는 알 수 없었음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3.2.1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55264" y="2432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24323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28163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스키마가 말한 것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55264" y="28163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colour 는 선택 항목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78624" y="28163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이를 따랐다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33723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383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검증기가 말한 것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55264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on/blink 에는 colour 필수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278624" y="3383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출력을 거부했다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393923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3950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255264" y="3950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 중 4회 거부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278624" y="395020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LED 는 계속 켜져 있었다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450616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9" name="Shape 37"/>
          <p:cNvSpPr/>
          <p:nvPr/>
        </p:nvSpPr>
        <p:spPr>
          <a:xfrm>
            <a:off x="749808" y="4572000"/>
            <a:ext cx="5230368" cy="118872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9264" y="4681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안 보였나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69264" y="49926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 정책이 30fps 를 유지했다. 시연 화면은 완벽히 정상이었고,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통계를 열어보기 전까지 아무도 몰랐다.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4572000"/>
            <a:ext cx="5230368" cy="1188720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37376" y="4681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고쳤나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37376" y="49926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한 곳에만 적는다. 스키마와 검증기가 같은 선언에서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파생되면 갈라질 대상이 없다. (뼈대 ③)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2-6.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“모르겠다” 를 합법으로 만든다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출구를 주지 않으면 모델은 반드시 지어낸다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 의 설계 (Designing an Exit)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431536" cy="137160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494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없을 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33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어두운 장면에서도 색을 지어낸다. 확신에 찬 오답이 나온다.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2103120"/>
            <a:ext cx="5431536" cy="1371600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22494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있을 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633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“The image is too dark, blurred or ambiguous” — 실제 응답이다.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12464"/>
            <a:ext cx="11055096" cy="1060704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22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 ≠ off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69664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“판단할 수 없다” 와 “끄라” 는 다른 말이다. none 은 직전 명령을 유지한다 — 조명이 한 프레임 깜빡였다고 경고등이 꺼지면 안 된다.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모터라면 더 나쁘다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불가마다 정지하면 기구가 덜컥거린다.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2-7.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 ③ 역량을 데이터로 선언한다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“프로그램 불필요” 가 성립하는 지점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선언에서 셋이 파생된다 (One Declaration, Three Outputs)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017520" cy="1737360"/>
          </a:xfrm>
          <a:prstGeom prst="rect">
            <a:avLst/>
          </a:prstGeom>
          <a:solidFill>
            <a:srgbClr val="C87F0A"/>
          </a:solidFill>
          <a:ln w="12700">
            <a:solidFill>
              <a:srgbClr val="C87F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선언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51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E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capabilities/*.json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01752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kind · transport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commands · args · wire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7415784" cy="530352"/>
          </a:xfrm>
          <a:prstGeom prst="rect">
            <a:avLst/>
          </a:prstGeom>
          <a:solidFill>
            <a:srgbClr val="FAF0D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25696" y="21031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도구 스키마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031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고를 수 있는 선택지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2706624"/>
            <a:ext cx="7415784" cy="530352"/>
          </a:xfrm>
          <a:prstGeom prst="rect">
            <a:avLst/>
          </a:prstGeom>
          <a:solidFill>
            <a:srgbClr val="FAF0D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5696" y="27066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검증기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7066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밖 호출을 거부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310128"/>
            <a:ext cx="7415784" cy="530352"/>
          </a:xfrm>
          <a:prstGeom prst="rect">
            <a:avLst/>
          </a:prstGeom>
          <a:solidFill>
            <a:srgbClr val="FAF0D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5696" y="3310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문자열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31012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 템플릿으로 직접 생성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233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 템플릿이 핵심이다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없으면 장치마다 파이썬 어댑터가 필요하고, “선언만 추가” 가 거짓이 된다.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882896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4882896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 판정 (Acceptance Test)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34009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액추에이터를 추가하는 데 코드를 한 줄도 쓰지 않는다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Step 4.1 · 4.1.1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계약 — 산출물 예시: 장치 선언서와 그 증명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C87F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Actuate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AF0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4.1 역량 계약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→ 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→ 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0줄로 장치를 추가했다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파일 하나를 놓은 것 외에 파이썬을 한 글자도 바꾸지 않았다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추가에 파이썬을 한 줄도 쓰지 않았습니다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Step 4.1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검증 방법: 추가 전후 파이썬 파일 전체의 md5 해시를 비교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4.1.1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24323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986784" y="2432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md5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24323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보는 스키마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28163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servo_pointer.json 추가 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986784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51a8999616dcf698…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78624" y="28163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3개 / 장치 1개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33723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383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파일 1개 추가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986784" y="3383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(파이썬 수정 없음)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278624" y="33832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393923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7824" y="3950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후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986784" y="39502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51a8999616dcf698…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39502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5개 / 장치 2개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" y="450616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" y="4443984"/>
            <a:ext cx="10698480" cy="1316736"/>
          </a:xfrm>
          <a:prstGeom prst="rect">
            <a:avLst/>
          </a:prstGeom>
          <a:solidFill>
            <a:srgbClr val="FDF8F0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7552" y="4553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계약이 막는 것들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87552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laser.fire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87552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없는 장치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3639312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servo.spin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639312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없는 명령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291072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angle = 999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291072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범위 초과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942832" y="4901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torque = 9000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942832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없는 인자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87552" y="54681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환각이 하드웨어에 닿지 않는다. 그리고 범위는 펌웨어가 한 번 더 막는다.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2-8.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를 쓸 문제 / 쓰지 말 문제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문제의 성질이 도구를 정한다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481328"/>
            <a:ext cx="3200400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767328" y="1481328"/>
            <a:ext cx="2651760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419088" y="1481328"/>
            <a:ext cx="2651760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9070848" y="1481328"/>
            <a:ext cx="2551176" cy="51206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4813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14813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14813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70848" y="1481328"/>
            <a:ext cx="2551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993392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19933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판별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19933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19933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좋음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1993392"/>
            <a:ext cx="2551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2706624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27066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판단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270662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9/9 · 7 ms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19088" y="270662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3/9 · 2.5초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70848" y="2706624"/>
            <a:ext cx="2551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(330배 빠름)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41985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341985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“정리되어 있나”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767328" y="341985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341985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70848" y="3419856"/>
            <a:ext cx="2551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4133088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4443984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44398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문제의 성질에 있다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의미 해석이고, 위치는 산술이다.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6928" y="5285232"/>
            <a:ext cx="1105509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528523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산술을 모델에게 시키지 마십시오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 · 3.2.2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도입 — 산출물 예시: 규칙 / AI A·B 비교표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3.2 AI 판단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배율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330배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3/9 · 2.5초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9/9 · 7ms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판단은 규칙이 완승했다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확실한 합성 이미지 9개. 같은 이미지를 양쪽에 준다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3/9 만 보면 “부정확”, 답변을 보면 “안 보고 있음”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정답은 사각형을 그려 넣은 좌표. 채점에 논란의 여지가 없도록 합성 이미지를 사용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3.2.2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432304"/>
            <a:ext cx="6035040" cy="38404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24323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x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249424" y="24323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803904" y="24323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358384" y="2432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77824" y="28163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249424" y="28163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03904" y="28163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58384" y="28163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3280867"/>
            <a:ext cx="603504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32918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49424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803904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358384" y="3291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" y="3756355"/>
            <a:ext cx="603504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7824" y="37673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249424" y="37673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centre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803904" y="37673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centre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358384" y="37673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" y="4231843"/>
            <a:ext cx="603504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77824" y="4242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249424" y="42428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right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3803904" y="42428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right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358384" y="42428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9808" y="4707331"/>
            <a:ext cx="603504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7824" y="47183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2249424" y="47183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right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3803904" y="47183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right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358384" y="47183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49808" y="5182819"/>
            <a:ext cx="603504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5" name="Shape 53"/>
          <p:cNvSpPr/>
          <p:nvPr/>
        </p:nvSpPr>
        <p:spPr>
          <a:xfrm>
            <a:off x="7132320" y="2432304"/>
            <a:ext cx="4315968" cy="1481328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51776" y="2560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모양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351776" y="288950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이 9개 전부 left 로 답했다.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맞은 3개는 우연히 왼쪽이었을 뿐이다.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조금 틀리는 것이 아니라,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보고 있지 않다.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132320" y="4059936"/>
            <a:ext cx="4315968" cy="1700784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51776" y="4187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키우면 나아지나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7351776" y="4517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768×432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9235440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2/5 · 2.3초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7351776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1024×576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923544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3/5 · 5.6초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7351776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1280×720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923544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3/5 · 8.1초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7351776" y="5468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더 맞히는 대가로 지연 3.5배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49808" y="4846320"/>
            <a:ext cx="6035040" cy="914400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69264" y="49560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숫자 하나로 모델을 판단하지 마십시오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969264" y="524865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목록을 보지 않으면 “좀 부정확하다” 로 읽힌다.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못 하는지는 분포에서 드러난다.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2-9.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요약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뼈대 셋과 원칙 하나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(Summary)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/ 빠른 분리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Separation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비동기로, 타이밍은 MCU 가. 97배 차이를 구조로 흡수한다.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검증을 통과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· 계약 · 펌웨어. 우회 경로가 달라 중복이 아니다.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역량을 데이터로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Declaration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선언에서 셋이 파생된다. 갈라질 대상이 없다.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— 산술을 모델에게 시키지 마십시오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2615184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276148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P-AI 실습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919472" y="3712464"/>
            <a:ext cx="6720840" cy="20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39136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Hands-on · Colour Control with a Local VLM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구축 — 실습 개요: 카메라가 본 색을 LED 가 재현한다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Perceive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ED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2.1 센서 연동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색지를 카메라 앞에 들면 LED 가 같은 색으로 켜진다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단계가 모두 이 보드 안에서 끝납니다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인터넷 연결 없이 동작합니다. 영상도 판단 결과도 보드 밖으로 나가지 않습니다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개요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65176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2651760"/>
            <a:ext cx="1920240" cy="54864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31638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빛을 낸다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 ms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70048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44368" y="265176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44368" y="2651760"/>
            <a:ext cx="192024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090672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035808" y="31638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장면을 담는다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035808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ms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864608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38928" y="265176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8928" y="2651760"/>
            <a:ext cx="1920240" cy="548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85232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VLM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230368" y="31638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읽는다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230368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3,306 ms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059168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3488" y="265176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2651760"/>
            <a:ext cx="1920240" cy="54864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79792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424928" y="31638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검사한다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424928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&lt;1 ms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253728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528048" y="265176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28048" y="2651760"/>
            <a:ext cx="1920240" cy="54864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674352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9619488" y="31638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켜진다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9619488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~5 ms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9808" y="4334256"/>
            <a:ext cx="10698480" cy="1426464"/>
          </a:xfrm>
          <a:prstGeom prst="rect">
            <a:avLst/>
          </a:prstGeom>
          <a:solidFill>
            <a:srgbClr val="F6F9FC"/>
          </a:solidFill>
          <a:ln w="12700">
            <a:solidFill>
              <a:srgbClr val="D8E4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87552" y="4462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확인할 것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87552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색은 어떻게 표현하는가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987552" y="5157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색상환의 각도 하나. 빨강은 두 번 나온다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4507992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AI 는 얼마나 맞히는가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4507992" y="5157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12색 중 정확 6, 한 칸 이내 12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028432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무엇이 측정을 망치는가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8028432" y="5157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자동보정이 두 방향으로 방해한다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2.1 · 2.1.1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연동 — 점검표: 부품 선택에서 실제로 막힌 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Perceive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7E4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2.1 센서 연동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가지를 먼저 확인하십시오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본 커리큘럼 제작 중에 실제로 걸려든 것들이다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슬라이드가 실습 시간을 절반으로 줄입니다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부품을 주문하기 전에 확인하면 가장 좋습니다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2.1.1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621024" y="24323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827264" y="2432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28163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 Module 3 (IMX708)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621024" y="2816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JetPack 미지원. 그런데 /dev/video0 은 생긴다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27264" y="28163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 0x0016 직독 → 0x0708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33723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15핀 CSI 케이블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621024" y="33832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꽂히는데 접점이 닿지 않는다 (Orin 은 22핀)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827264" y="3383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케이블 끝 금속 접점을 센다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393923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39502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애노드 RGB LED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621024" y="39502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255 255 255 를 보내면 꺼진다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827264" y="39502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흰색 명령에 소등되면 공통 애노드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450616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77824" y="45171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저항 1개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621024" y="45171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노랑이 빨강으로, 청록이 초록으로 나온다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827264" y="45171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빨강을 줄여 초록이 드러나면 확정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507309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" y="4846320"/>
            <a:ext cx="10698480" cy="91440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위험한 것은 첫 번째입니다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87552" y="5266944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IMX708 은 IMX477 과 i2c 주소를 공유해서, 오버레이를 올리면 장치 노드가 생기고 캡처까지 성공합니다. 그런데 모든 픽셀이 같은 값입니다.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2.1 · 2.1.2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연동 — 산출물 예시: 센서 식별서와 건전성 검사 기준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Perceive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ED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2.1 센서 연동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 ≥ 1.0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판독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 0x0016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노드는 드라이버가 만든다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센서가 만드는 것이 아니다. 그래서 칩에게 직접 물어본다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 · 바인딩 · 캡처 성공은 모두 증거가 아닙니다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센서는 INCK 클럭이 공급될 때만 i2c 에 응답합니다. 스트리밍 중에 읽어야 합니다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2.1.2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5230368" cy="38404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식별 — 칩 ID 판독표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28163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0x02 0x19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23744" y="28163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IMX219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986784" y="28163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· 주소 0x10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" y="3273552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0x04 0x77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523744" y="32918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IMX477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986784" y="3291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· 주소 0x1a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9808" y="3749040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7673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0x07 0x08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523744" y="37673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IMX708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986784" y="3767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미지원 · 주소 0x1a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9808" y="4224528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" y="4389120"/>
            <a:ext cx="5230368" cy="137160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4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4498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건전성 검사 기준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69264" y="480974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모든 픽셀이 같은 값이면 거부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표준편차 1.0 미만이면 거부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렌즈 캡을 씌운 어두운 장면은 통과해야 한다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2432304"/>
            <a:ext cx="5230368" cy="1755648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37376" y="2560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고장난 카메라가 통과시킨 검사들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37376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/dev/video0 존재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생성됨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437376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바인딩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941832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bound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37376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 조회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941832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3840×2160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437376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캡처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9418320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성공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17920" y="4389120"/>
            <a:ext cx="5230368" cy="1371600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37376" y="4498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픽셀을 보니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437376" y="48097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 = max = mean = 4100,  std = 0.0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6437376" y="51389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830만 샘플이 전부 같은 값. 사진이 아니었다.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3-1.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— 무지개 색은 어떻게 표현하지?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모델에게 색을 가르치려면 먼저 색을 정의해야 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645920"/>
            <a:ext cx="11055096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45920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“무지개 색은 어떻게 표현하지?”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3291840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32918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답 — 어느 것이 모델에게 좋은가 (Which Representation)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1388" y="4005072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61388" y="400507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86460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세 값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23036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 Channels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23644" y="5559552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5687568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읽기 어렵다. 모델에게 “(255,128,0)” 을 고르라고 하면 범위를 벗어난다.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69664" y="3986784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" name="Shape 13"/>
          <p:cNvSpPr/>
          <p:nvPr/>
        </p:nvSpPr>
        <p:spPr>
          <a:xfrm>
            <a:off x="5646420" y="4005072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46420" y="400507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486460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이름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523036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08676" y="5559552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26280" y="5687568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어휘가 유한하다. “연두” 와 “초록” 의 경계는 사람도 갈린다.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54696" y="3986784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2" name="Shape 20"/>
          <p:cNvSpPr/>
          <p:nvPr/>
        </p:nvSpPr>
        <p:spPr>
          <a:xfrm>
            <a:off x="9331452" y="4005072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31452" y="400507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486460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색상환의 각도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936992" y="523036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93708" y="5559552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11312" y="5687568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하나. 연속적이고 순환한다. 모델은 이름을, 기계는 각도를 쓴다.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1차원이다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한 바퀴 도는 숫자 하나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 (Hue Wheel) — OpenCV 는 0–179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841248" cy="841248"/>
          </a:xfrm>
          <a:prstGeom prst="rect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81328" y="2103120"/>
            <a:ext cx="841248" cy="841248"/>
          </a:xfrm>
          <a:prstGeom prst="rect">
            <a:avLst/>
          </a:prstGeom>
          <a:solidFill>
            <a:srgbClr val="FF8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813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95728" y="2103120"/>
            <a:ext cx="841248" cy="841248"/>
          </a:xfrm>
          <a:prstGeom prst="rect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957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042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0128" y="2103120"/>
            <a:ext cx="841248" cy="841248"/>
          </a:xfrm>
          <a:prstGeom prst="rect">
            <a:avLst/>
          </a:prstGeom>
          <a:solidFill>
            <a:srgbClr val="80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01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24528" y="2103120"/>
            <a:ext cx="841248" cy="841248"/>
          </a:xfrm>
          <a:prstGeom prst="rect">
            <a:avLst/>
          </a:prstGeom>
          <a:solidFill>
            <a:srgbClr val="00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245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330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38928" y="2103120"/>
            <a:ext cx="841248" cy="841248"/>
          </a:xfrm>
          <a:prstGeom prst="rect">
            <a:avLst/>
          </a:prstGeom>
          <a:solidFill>
            <a:srgbClr val="00FF8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389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53328" y="2103120"/>
            <a:ext cx="841248" cy="841248"/>
          </a:xfrm>
          <a:prstGeom prst="rect">
            <a:avLst/>
          </a:prstGeom>
          <a:solidFill>
            <a:srgbClr val="00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618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67728" y="2103120"/>
            <a:ext cx="841248" cy="841248"/>
          </a:xfrm>
          <a:prstGeom prst="rect">
            <a:avLst/>
          </a:prstGeom>
          <a:solidFill>
            <a:srgbClr val="007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677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82128" y="2103120"/>
            <a:ext cx="841248" cy="841248"/>
          </a:xfrm>
          <a:prstGeom prst="rect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821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906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96528" y="2103120"/>
            <a:ext cx="841248" cy="841248"/>
          </a:xfrm>
          <a:prstGeom prst="rect">
            <a:avLst/>
          </a:prstGeom>
          <a:solidFill>
            <a:srgbClr val="8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965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10928" y="2103120"/>
            <a:ext cx="841248" cy="841248"/>
          </a:xfrm>
          <a:prstGeom prst="rect">
            <a:avLst/>
          </a:prstGeom>
          <a:solidFill>
            <a:srgbClr val="FF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109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619488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625328" y="2103120"/>
            <a:ext cx="841248" cy="841248"/>
          </a:xfrm>
          <a:prstGeom prst="rect">
            <a:avLst/>
          </a:prstGeom>
          <a:solidFill>
            <a:srgbClr val="FF007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25328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3749040"/>
            <a:ext cx="11055096" cy="100584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38587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0–179 입니다. 360 이 아닙니다.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4187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 는 색상환을 180 단계로 담습니다. 360 을 기대하고 짠 코드는 모든 색을 절반씩 어긋나게 읽습니다.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사슬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“green” → hue 60 → RGB(0,255,0) → “RGB 0 255 0 / LEVEL 90 / ON”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3-3.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빨강은 두 번 나온다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평균을 내면 정확히 청록이 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순환하는 축의 함정 (The Wraparound Trap)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103120"/>
            <a:ext cx="1645920" cy="1097280"/>
          </a:xfrm>
          <a:prstGeom prst="rect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552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 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빨강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1645920" cy="1097280"/>
          </a:xfrm>
          <a:prstGeom prst="rect">
            <a:avLst/>
          </a:prstGeom>
          <a:solidFill>
            <a:srgbClr val="FF007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32552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 175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빨강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871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7980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58000" y="2103120"/>
            <a:ext cx="1645920" cy="1097280"/>
          </a:xfrm>
          <a:prstGeom prst="rect">
            <a:avLst/>
          </a:prstGeom>
          <a:solidFill>
            <a:srgbClr val="00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32552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 88.5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69680" y="2103120"/>
            <a:ext cx="2752344" cy="1719072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9136" y="2231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89136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평균이 아니라 최빈값을 쓴다.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히스토그램에서 가장 많이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 각도를 고른다.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 + 175) ÷ 2 = 88.5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두 개의 평균이 청록이다.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순환하는 축에서는 산술 평균이 성립하지 않는다.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순환하는 값에 평균을 쓰지 마십시오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3.1 · 3.1.1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베이스라인 — 시연: 색상환 순환 (AI 없음)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C87F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AF0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3.1 규칙 베이스라인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 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8초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AI 없이 돌려본다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./host/rainbow.py --period 8 — 색상환을 한 바퀴 도는 것뿐이다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AI 가 아닙니다. 다음 장에서 AI 를 넣습니다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카메라로 광학 검증: 색조 37 → 59 → 73 → 95 → 107 → 7 → 10 (한 바퀴)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3.1.1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468880"/>
            <a:ext cx="822960" cy="822960"/>
          </a:xfrm>
          <a:prstGeom prst="rect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45920" y="2468880"/>
            <a:ext cx="822960" cy="822960"/>
          </a:xfrm>
          <a:prstGeom prst="rect">
            <a:avLst/>
          </a:prstGeom>
          <a:solidFill>
            <a:srgbClr val="FF8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45920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42032" y="2468880"/>
            <a:ext cx="822960" cy="822960"/>
          </a:xfrm>
          <a:prstGeom prst="rect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42032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38144" y="2468880"/>
            <a:ext cx="822960" cy="822960"/>
          </a:xfrm>
          <a:prstGeom prst="rect">
            <a:avLst/>
          </a:prstGeom>
          <a:solidFill>
            <a:srgbClr val="80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38144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34256" y="2468880"/>
            <a:ext cx="822960" cy="822960"/>
          </a:xfrm>
          <a:prstGeom prst="rect">
            <a:avLst/>
          </a:prstGeom>
          <a:solidFill>
            <a:srgbClr val="00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34256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30368" y="2468880"/>
            <a:ext cx="822960" cy="822960"/>
          </a:xfrm>
          <a:prstGeom prst="rect">
            <a:avLst/>
          </a:prstGeom>
          <a:solidFill>
            <a:srgbClr val="00FF8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30368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2468880"/>
            <a:ext cx="822960" cy="822960"/>
          </a:xfrm>
          <a:prstGeom prst="rect">
            <a:avLst/>
          </a:prstGeom>
          <a:solidFill>
            <a:srgbClr val="00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0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22592" y="2468880"/>
            <a:ext cx="822960" cy="822960"/>
          </a:xfrm>
          <a:prstGeom prst="rect">
            <a:avLst/>
          </a:prstGeom>
          <a:solidFill>
            <a:srgbClr val="007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22592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18704" y="2468880"/>
            <a:ext cx="822960" cy="822960"/>
          </a:xfrm>
          <a:prstGeom prst="rect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18704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14816" y="2468880"/>
            <a:ext cx="822960" cy="822960"/>
          </a:xfrm>
          <a:prstGeom prst="rect">
            <a:avLst/>
          </a:prstGeom>
          <a:solidFill>
            <a:srgbClr val="8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814816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710928" y="2468880"/>
            <a:ext cx="822960" cy="822960"/>
          </a:xfrm>
          <a:prstGeom prst="rect">
            <a:avLst/>
          </a:prstGeom>
          <a:solidFill>
            <a:srgbClr val="FF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710928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607040" y="2468880"/>
            <a:ext cx="822960" cy="822960"/>
          </a:xfrm>
          <a:prstGeom prst="rect">
            <a:avLst/>
          </a:prstGeom>
          <a:solidFill>
            <a:srgbClr val="FF007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07040" y="3346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9808" y="3822192"/>
            <a:ext cx="5230368" cy="1938528"/>
          </a:xfrm>
          <a:prstGeom prst="rect">
            <a:avLst/>
          </a:prstGeom>
          <a:solidFill>
            <a:srgbClr val="FDF8F0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69264" y="3950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이건 호스트가 타이밍을 쥐나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69264" y="427939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 ① 의 의도적 예외다.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펌웨어는 색 순환을 모른다. 넣으면 패턴을 바꿀 때마다 재플래싱해야 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페이드는 밀리초 정밀도가 필요 없다. 100ms 점멸을 망치던 지터가 여기선 보이지 않는다.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17920" y="3822192"/>
            <a:ext cx="5230368" cy="193852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37376" y="3950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원칙에는 예외가 있다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437376" y="427939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예외를 설명할 수 있어야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원칙을 이해한 것이다.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 이건 MCU 가 안 하나요” 라는 질문이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나오면 수업이 잘 된 것이다.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 · 3.2.1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도입 — 산출물 예시: 모델 선정서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3.2 AI 판단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 GB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3B 가 타협이 아니었다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조건에서 제어 루프와 카메라를 함께 돌리며 측정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빠르고, 정확하고, 유일하게 동작했습니다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 조건: 제어 루프 60스텝 + VLM 추론 6회를 동시 실행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3.2.1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24323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803904" y="24323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Q4_K_M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644384" y="2432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3B Q4_K_M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28163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803904" y="281635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5.15 GB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644384" y="281635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2.59 GB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331744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3284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판별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803904" y="332841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불가 (크래시)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644384" y="33284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 정확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38295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7824" y="38404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지연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803904" y="384048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2,200 ~ 2,900 ms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644384" y="38404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943 ms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" y="434157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7824" y="43525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 가용 메모리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803904" y="435254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302 MB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644384" y="43525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1,974 MB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" y="485363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77824" y="48646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부하 결과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803904" y="486460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사망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644384" y="4864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 성공 · 생존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9808" y="5365699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9" name="Shape 47"/>
          <p:cNvSpPr/>
          <p:nvPr/>
        </p:nvSpPr>
        <p:spPr>
          <a:xfrm>
            <a:off x="749808" y="5120640"/>
            <a:ext cx="10698480" cy="640080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87552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과제에서 7B 의 추가 용량은 </a:t>
            </a:r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이득이 없었습니다.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정확도는 같고, 속도는 3B 가 2배 이상 빠르며, 메모리 여유는 6배입니다.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 · 3.2.1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도입 — 점검표: 서버 기동 플래그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3.2 AI 판단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네 개가 결정적이다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넷 다 직관과 어긋난다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/health 가 ok 라고 동작하는 게 아닙니다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서버는 비전 버퍼 할당에 실패해도 model loaded 를 찍고 포트를 엽니다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3.2.1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86784" y="24323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/ 틀리면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2432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28163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--parallel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86784" y="2816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4개 → 첫 요청에서 사망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28163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캐시가 4배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33723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383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768×432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986784" y="33832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1280×720 은 batch 초과로 abort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작으면 인식 정확도 저하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393923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3950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 4096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986784" y="39502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줄이면 오히려 깨진다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75904" y="39502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토큰이 배치에 들어가야 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450616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77824" y="45171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끄기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986784" y="451713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2.3GB → 6.4GB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375904" y="45171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multi-user.target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507309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" y="4846320"/>
            <a:ext cx="10698480" cy="91440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줄이는 것이 늘 이득은 아닙니다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87552" y="5266944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토큰이 배치 안에 들어가야 하므로, -c 를 낮추면 GGML_ASSERT 로 중단됩니다. 메모리를 아끼려다 아예 못 돌게 되는 전형적인 경우입니다.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 · 3.2.2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도입 — 산출물 예시: 색 인식 정확도 측정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3.2 AI 판단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 이내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은 색을 얼마나 맞히나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색상환을 12단계로 돌며 매번 물었다. 모델은 명령값을 모르고 사진만 본다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“100% 정확” 이 아니라 “한 칸 안에서 정확” 입니다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모델: Qwen2.5-VL-3B Q4_K_M · 이미지 768×432 · 화이트밸런스/노출 고정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3.2.2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432304"/>
            <a:ext cx="10698480" cy="347472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색조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견본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2432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명령한 색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2432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답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24323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27797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0" y="2816352"/>
            <a:ext cx="658368" cy="173736"/>
          </a:xfrm>
          <a:prstGeom prst="rect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4640" y="27797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27797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27797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30266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0" y="3063240"/>
            <a:ext cx="658368" cy="173736"/>
          </a:xfrm>
          <a:prstGeom prst="rect">
            <a:avLst/>
          </a:prstGeom>
          <a:solidFill>
            <a:srgbClr val="FF8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34640" y="30266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orange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937760" y="30266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30266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한 칸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77824" y="32735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828800" y="3310128"/>
            <a:ext cx="658368" cy="173736"/>
          </a:xfrm>
          <a:prstGeom prst="rect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34640" y="32735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yellow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937760" y="32735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yellow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040880" y="327355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77824" y="35204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28800" y="3557016"/>
            <a:ext cx="658368" cy="173736"/>
          </a:xfrm>
          <a:prstGeom prst="rect">
            <a:avLst/>
          </a:prstGeom>
          <a:solidFill>
            <a:srgbClr val="80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34640" y="35204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yellow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937760" y="35204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040880" y="35204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한 칸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77824" y="37673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828800" y="3803904"/>
            <a:ext cx="658368" cy="173736"/>
          </a:xfrm>
          <a:prstGeom prst="rect">
            <a:avLst/>
          </a:prstGeom>
          <a:solidFill>
            <a:srgbClr val="00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834640" y="376732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4937760" y="376732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7040880" y="376732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77824" y="401421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828800" y="4050792"/>
            <a:ext cx="658368" cy="173736"/>
          </a:xfrm>
          <a:prstGeom prst="rect">
            <a:avLst/>
          </a:prstGeom>
          <a:solidFill>
            <a:srgbClr val="00FF8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34640" y="40142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937760" y="40142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7040880" y="40142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77824" y="42611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828800" y="4297680"/>
            <a:ext cx="658368" cy="173736"/>
          </a:xfrm>
          <a:prstGeom prst="rect">
            <a:avLst/>
          </a:prstGeom>
          <a:solidFill>
            <a:srgbClr val="00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834640" y="42611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cyan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937760" y="42611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7040880" y="426110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한 칸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877824" y="4507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828800" y="4544568"/>
            <a:ext cx="658368" cy="173736"/>
          </a:xfrm>
          <a:prstGeom prst="rect">
            <a:avLst/>
          </a:prstGeom>
          <a:solidFill>
            <a:srgbClr val="007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834640" y="45079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cyan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4937760" y="45079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7040880" y="45079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한 칸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877824" y="475488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828800" y="4791456"/>
            <a:ext cx="658368" cy="173736"/>
          </a:xfrm>
          <a:prstGeom prst="rect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834640" y="47548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937760" y="47548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7040880" y="4754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877824" y="50017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828800" y="5038344"/>
            <a:ext cx="658368" cy="173736"/>
          </a:xfrm>
          <a:prstGeom prst="rect">
            <a:avLst/>
          </a:prstGeom>
          <a:solidFill>
            <a:srgbClr val="8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834640" y="5001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purple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4937760" y="5001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7040880" y="50017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한 칸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877824" y="524865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828800" y="5285232"/>
            <a:ext cx="658368" cy="173736"/>
          </a:xfrm>
          <a:prstGeom prst="rect">
            <a:avLst/>
          </a:prstGeom>
          <a:solidFill>
            <a:srgbClr val="FF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834640" y="524865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purple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4937760" y="524865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purple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7040880" y="52486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877824" y="54955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165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828800" y="5532120"/>
            <a:ext cx="658368" cy="173736"/>
          </a:xfrm>
          <a:prstGeom prst="rect">
            <a:avLst/>
          </a:prstGeom>
          <a:solidFill>
            <a:srgbClr val="FF007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834640" y="54955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4937760" y="54955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7040880" y="549554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778240" y="2432304"/>
            <a:ext cx="2670048" cy="1645920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997696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일치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8997696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12</a:t>
            </a:r>
            <a:endParaRPr lang="en-US" sz="3000" dirty="0"/>
          </a:p>
        </p:txBody>
      </p:sp>
      <p:sp>
        <p:nvSpPr>
          <p:cNvPr id="94" name="Text 92"/>
          <p:cNvSpPr txBox="1"/>
          <p:nvPr/>
        </p:nvSpPr>
        <p:spPr>
          <a:xfrm>
            <a:off x="8997696" y="331012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6개도 전부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색상환에서 바로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이웃한 이름이었다.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8778240" y="4206240"/>
            <a:ext cx="2670048" cy="155448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997696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유리하게 고르면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8997696" y="46268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관용 채점하면 12/12 입니다.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그건 틀린 교훈을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줍니다 — 경계의 이름은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사람도 갈립니다.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2.2 · 2.2.1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설계 — 핵심 발견: 자동보정이 측정을 망치는 두 방향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Perceive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ED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2.2 특징 설계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증폭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기능이 두 방향으로 망친다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것을 감추고, 없는 것을 보이게 한다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 기반 검출에서 노출 고정은 선택이 아니라 전제입니다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측정: LED 최대 점등 시 전역 밝기 변화 / 정지 장면에서 LED 전환 시 차분 점수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2.2.1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5230368" cy="283464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2578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밝기로 LED 를 재면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296265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상쇄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3310128" y="30540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+0.02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3657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를 최대로 켰는데 화면 평균이 움직이지 않는다. 자동노출이 되돌린다.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“카메라가 LED 를 못 본다” 는 틀린 결론에 도달한다.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2432304"/>
            <a:ext cx="5230368" cy="2834640"/>
          </a:xfrm>
          <a:prstGeom prst="rect">
            <a:avLst/>
          </a:prstGeom>
          <a:solidFill>
            <a:srgbClr val="FDF8F0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55664" y="2578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차분으로 움직임을 재면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296265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증폭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30540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3.2배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455664" y="3657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가 켜지면 자동노출이 화면 전체를 다시 노출한다. 움직인 건 없는데 전 픽셀이 바뀐다.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구름이 지나가도 경보가 울린다.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9808" y="5394960"/>
            <a:ext cx="10698480" cy="36576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자동노출이 </a:t>
            </a:r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3 에서는 LED 를 지우고, 여기서는 없는 움직임을 만들어냅니다.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2.2 · 2.2.2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설계 — 산출물 예시: 노이즈 바닥 측정표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Perceive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ED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2.2 특징 설계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3.245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p95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임계값은 추측하지 않고 잰다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장면의 노이즈를 먼저 재고, 알려진 변화를 재고, 둘을 가르는 값을 고른다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 0% 를 유지하는 가장 낮은 값을 고릅니다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Step 2.2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알려진 변화로 LED 점등/소등을 사용 — 언제 변했는지 정확히 알기 때문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2.2.2 · P-AI 방법론 5-Phase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" y="2432304"/>
            <a:ext cx="5230368" cy="38404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7824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072384" y="2432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28163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노이즈 p95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72384" y="2816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3280867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32918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전환 신호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072384" y="3291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3.245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" y="3756355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7824" y="37673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072384" y="37673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 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4231843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7824" y="42428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072384" y="42428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59 · 전환 12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" y="4707331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0" y="2432304"/>
            <a:ext cx="5230368" cy="38404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0" y="2432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2432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2816352"/>
            <a:ext cx="5230368" cy="457200"/>
          </a:xfrm>
          <a:prstGeom prst="rect">
            <a:avLst/>
          </a:prstGeom>
          <a:solidFill>
            <a:srgbClr val="E4F2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0" y="2816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0.601  (p95×2)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795528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0.0%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9326880" y="28163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424160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선정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3273552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0.901  (p95×3)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0.0%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32688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17920" y="3749040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00800" y="3767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1.501  (p95×5)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7955280" y="3767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0.0%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9326880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217920" y="4224528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8" name="Shape 56"/>
          <p:cNvSpPr/>
          <p:nvPr/>
        </p:nvSpPr>
        <p:spPr>
          <a:xfrm>
            <a:off x="749808" y="4572000"/>
            <a:ext cx="10698480" cy="118872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4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7552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가장 낮은 값인가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987552" y="501091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오경보 0% · 검출 100% 로 완벽합니다. 그렇다면 더 민감한 쪽이 낫습니다 — 임계값이 낮을수록 작은 변화를 잡아냅니다.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노이즈 바닥을 재지 않고 추측했다면, 너무 낮게 잡아 오경보가 쏟아지거나 너무 높게 잡아 진짜 변화를 놓쳤을 것입니다.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3.3 · 3.3.2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안정화 — 산출물 예시: 전송 빈도 측정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3.3 출력 안정화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적용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18회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정지한 장면에서 20스텝 중 18회를 보냈다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노이즈로 색조가 흔들리고, 정책이 그것을 충실히 따라간 결과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분해능을 관측의 신뢰도에 맞춥니다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장면은 완전히 정지 상태. 변화는 전부 센서 노이즈에서 왔습니다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3.3.2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2523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2615184"/>
            <a:ext cx="640080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Shape 23"/>
          <p:cNvSpPr/>
          <p:nvPr/>
        </p:nvSpPr>
        <p:spPr>
          <a:xfrm>
            <a:off x="2468880" y="2615184"/>
            <a:ext cx="6400800" cy="310896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52560" y="2523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20스텝 중 18회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2980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가 미세하게 떨린다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35112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68880" y="3602736"/>
            <a:ext cx="640080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68880" y="3602736"/>
            <a:ext cx="3911600" cy="310896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52560" y="3511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20스텝 중 11회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3968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위에서 진동한다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498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468880" y="4590288"/>
            <a:ext cx="640080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5" name="Shape 33"/>
          <p:cNvSpPr/>
          <p:nvPr/>
        </p:nvSpPr>
        <p:spPr>
          <a:xfrm>
            <a:off x="2468880" y="4590288"/>
            <a:ext cx="711200" cy="310896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52560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20스텝 중 2회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468880" y="4956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색이 바뀔 때만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5394960"/>
            <a:ext cx="10698480" cy="365760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7552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양자화만으로 부족한 이유 — </a:t>
            </a:r>
            <a:pPr indent="0" marL="0">
              <a:buNone/>
            </a:pPr>
            <a:r>
              <a:rPr lang="en-US" sz="11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스텝 경계 위에서 진동하면 양자화 결과도 함께 진동합니다.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직전에 내보낸 값과 비교하면 고정된 경계가 없어집니다.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3-4.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요약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실습에서 배운 네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(Summary)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0759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0759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각도 하나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2763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63015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0–179. 빨강은 두 번 나오므로 평균이 아니라 최빈값을 쓴다.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4840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64533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64533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3330702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는 한 칸 안에서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330702" y="3328416"/>
            <a:ext cx="2763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6/12 · 12/12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6789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05022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6, 이웃 한 칸 6. 한 칸을 넘어 틀린 적은 없었다.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12180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7028307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28307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6094476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측정이 결론을 만든다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094476" y="3328416"/>
            <a:ext cx="2763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90563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68796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자동노출이 있는 것을 감추고 없는 것을 만든다.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7595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7" name="Shape 25"/>
          <p:cNvSpPr/>
          <p:nvPr/>
        </p:nvSpPr>
        <p:spPr>
          <a:xfrm>
            <a:off x="9792081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92081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500" dirty="0"/>
          </a:p>
        </p:txBody>
      </p:sp>
      <p:sp>
        <p:nvSpPr>
          <p:cNvPr id="29" name="Text 27"/>
          <p:cNvSpPr txBox="1"/>
          <p:nvPr/>
        </p:nvSpPr>
        <p:spPr>
          <a:xfrm>
            <a:off x="8858250" y="2962656"/>
            <a:ext cx="2763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고르지 마라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858250" y="3328416"/>
            <a:ext cx="2763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54337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32570" y="3785616"/>
            <a:ext cx="221513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관용 채점하면 12/12 다. 그러나 틀린 교훈을 준다.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우리 조직은 무엇부터 해야 하는가.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2615184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276148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P-AI 실전 적용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919472" y="3712464"/>
            <a:ext cx="6720840" cy="20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39136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Adoption Roadmap · Where to Start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조직 관점의 세 가지 동인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동인 (Drivers)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보던 것을 기계가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Automated Inspection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364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· 감시 · 계수. 사람이 눈으로 하던 반복 판단을 넘긴다.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642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밖으로 안 나간다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On-Premise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867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추론이면 영상도 판단도 보드를 벗어나지 않는다.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1452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없이 돈다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3708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· 현장 · 오지. 연결이 끊겨도 판단은 계속된다.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를 넣자” 로 시작하면 실패합니다.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다음 장에서 그 이유를 봅니다.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를 넣자” 로 시작하면 실패한다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흔한 실패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737360"/>
            <a:ext cx="201168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도입 결정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67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지시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2066544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16352" y="1737360"/>
            <a:ext cx="201168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16352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2267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되는 조건에서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066544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65776" y="1737360"/>
            <a:ext cx="201168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성공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2267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77456" y="2066544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737360"/>
            <a:ext cx="201168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투입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267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조건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066544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64624" y="1737360"/>
            <a:ext cx="2011680" cy="100584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64624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64624" y="2267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불명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798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6928" y="3200400"/>
            <a:ext cx="11055096" cy="1335024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3284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지점 — 데모 환경 ≠ 운용 환경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694176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는 모델만 띄워놓고 잽니다. 현장에서는 카메라 파이프라인과 제어 루프가 함께 돕니다.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가 적재되고 카메라까지 견디다가 추론 요청에서 죽은 것이 정확히 이 차이입니다 (1-5 참조).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68172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6817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조건으로 해야 합니다.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잘 되는 조건에서 재면 잘 된다는 사실만 확인합니다.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5486400"/>
            <a:ext cx="1105509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548640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조건이 결론을 만듭니다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~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전략가의 로드맵 — P-AI 5 Phase 11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1F3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P-AI 방법론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Phase · 11 Step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기간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22건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무엇부터, 어떤 순서로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1단계는 AI 가 아니다 — 지금 사람이 무엇을 보고 있는지부터 적는다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단계를 건너뛰면 AI 가 무엇을 개선했는지 알 수 없습니다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P-AI 방법론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기간은 과제 규모에 따라 달라집니다. 순서는 바뀌지 않습니다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개요 · P-AI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68880"/>
            <a:ext cx="1993392" cy="402336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24688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2871216"/>
            <a:ext cx="1993392" cy="2103120"/>
          </a:xfrm>
          <a:prstGeom prst="rect">
            <a:avLst/>
          </a:prstGeom>
          <a:solidFill>
            <a:srgbClr val="E3F1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298094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설계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33284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볼 것인가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7552" y="3712464"/>
            <a:ext cx="1517904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" y="38221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목록 · 환경 진단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07008" y="4590288"/>
            <a:ext cx="10789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07008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3657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907792" y="2468880"/>
            <a:ext cx="1993392" cy="40233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907792" y="24688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07792" y="2871216"/>
            <a:ext cx="1993392" cy="2103120"/>
          </a:xfrm>
          <a:prstGeom prst="rect">
            <a:avLst/>
          </a:prstGeom>
          <a:solidFill>
            <a:srgbClr val="E4ED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99232" y="298094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구축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999232" y="33284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센서와 특징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45536" y="3712464"/>
            <a:ext cx="1517904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999232" y="38221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식별서 · 노이즈 바닥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64992" y="4590288"/>
            <a:ext cx="10789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64992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901184" y="3657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65776" y="2468880"/>
            <a:ext cx="1993392" cy="402336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65776" y="24688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65776" y="2871216"/>
            <a:ext cx="1993392" cy="2103120"/>
          </a:xfrm>
          <a:prstGeom prst="rect">
            <a:avLst/>
          </a:prstGeom>
          <a:solidFill>
            <a:srgbClr val="F0E7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57216" y="298094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설계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157216" y="33284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→ AI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03520" y="3712464"/>
            <a:ext cx="1517904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157216" y="38221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기준선 · A/B 비교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22976" y="4590288"/>
            <a:ext cx="10789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22976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657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223760" y="2468880"/>
            <a:ext cx="1993392" cy="402336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223760" y="24688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2871216"/>
            <a:ext cx="1993392" cy="2103120"/>
          </a:xfrm>
          <a:prstGeom prst="rect">
            <a:avLst/>
          </a:prstGeom>
          <a:solidFill>
            <a:srgbClr val="FAF0D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15200" y="298094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 · 계약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7315200" y="33284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장치와 안전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461504" y="3712464"/>
            <a:ext cx="1517904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315200" y="38221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선언서 · 워치독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80960" y="4590288"/>
            <a:ext cx="10789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7F0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80960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217152" y="3657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381744" y="2468880"/>
            <a:ext cx="1993392" cy="402336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381744" y="246888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381744" y="2871216"/>
            <a:ext cx="1993392" cy="2103120"/>
          </a:xfrm>
          <a:prstGeom prst="rect">
            <a:avLst/>
          </a:prstGeom>
          <a:solidFill>
            <a:srgbClr val="E4F2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473184" y="298094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· 환류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9473184" y="33284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회귀와 확산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619488" y="3712464"/>
            <a:ext cx="1517904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473184" y="3822192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· 확산 로드맵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838944" y="4590288"/>
            <a:ext cx="10789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838944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49808" y="5157216"/>
            <a:ext cx="10698480" cy="603504"/>
          </a:xfrm>
          <a:prstGeom prst="rect">
            <a:avLst/>
          </a:prstGeom>
          <a:solidFill>
            <a:srgbClr val="F7F9FD"/>
          </a:solidFill>
          <a:ln w="12700">
            <a:solidFill>
              <a:srgbClr val="D5DEF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87552" y="5157216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실수 — </a:t>
            </a:r>
            <a:pPr indent="0" marL="0">
              <a:buNone/>
            </a:pPr>
            <a:r>
              <a:rPr lang="en-US" sz="12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과 3 의 규칙 단계를 건너뛰고 바로 AI 로 가는 것.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비교 기준도, 폴백도, 원인 분리 수단도 없이 시작하게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1.1 · 1.1.1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대상 정의 — 산출물 예시: 관측 목록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0F7B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Observe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3F1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1.1 관측 대상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 사람이 무엇을 보고 있나”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로 무엇을 할까” 가 아니다. 질문의 방향이 반대다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보고 있지 않은 것은 AI 도 볼 필요가 없습니다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교육용 예시입니다. 실제로는 현장 관찰과 인터뷰로 채웁니다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1.1.1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보는 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895344" y="2432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358384" y="24323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467344" y="24323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281635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색상이 맞는가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95344" y="281635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58384" y="281635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도색 표준 색상표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67344" y="281635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 · 고객 반품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329915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31012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작업자가 구역 안에 있는가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895344" y="33101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58384" y="33101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안전선 기준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67344" y="33101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사고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" y="379293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7824" y="38039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조립이 끝났는가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895344" y="38039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358384" y="380390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6종 체결 여부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67344" y="380390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후공정 정지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42867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77824" y="429768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작업대가 정리됐는가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895344" y="42976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교대마다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358384" y="429768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판단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467344" y="429768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조 작업 지연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9808" y="478048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8" name="Shape 46"/>
          <p:cNvSpPr/>
          <p:nvPr/>
        </p:nvSpPr>
        <p:spPr>
          <a:xfrm>
            <a:off x="749808" y="4846320"/>
            <a:ext cx="10698480" cy="914400"/>
          </a:xfrm>
          <a:prstGeom prst="rect">
            <a:avLst/>
          </a:prstGeom>
          <a:solidFill>
            <a:srgbClr val="F7FAFB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7552" y="4956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표를 채우면 다음 단계가 자동으로 정해집니다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87552" y="52486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“판단 기준” 열이 숫자나 규칙으로 적히면 → 규칙으로 됩니다.  “담당자 판단” 이라고 적히면 → AI 후보입니다.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“틀리면” 열이 비어 있으면, 그 관측은 애초에 중요하지 않다는 뜻입니다.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베이스라인 — 왜 건너뛰면 안 되는가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Decide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3.1 규칙 베이스라인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판단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7.4 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330배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베이스라인이 주는 세 가지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AI 를 넣고도 그것이 나아진 것인지 알 수 없다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되는 것은 규칙으로 하십시오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Step 3.1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위치 판단 실측: 규칙 9/9 · 7.4 ms vs VLM 3/9 · 2,472 ms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해설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68880"/>
            <a:ext cx="10698480" cy="914400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2724912"/>
            <a:ext cx="402336" cy="402336"/>
          </a:xfrm>
          <a:prstGeom prst="ellipse">
            <a:avLst/>
          </a:prstGeom>
          <a:solidFill>
            <a:srgbClr val="7B3F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9264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17904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517904" y="292608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얼마나 나아졌는지 재려면 전후를 같은 자로 재야 한다. 기준선이 없으면 “좋아진 것 같다” 밖에 말할 수 없다.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" y="3511296"/>
            <a:ext cx="10698480" cy="914400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" y="3767328"/>
            <a:ext cx="402336" cy="402336"/>
          </a:xfrm>
          <a:prstGeom prst="ellipse">
            <a:avLst/>
          </a:prstGeom>
          <a:solidFill>
            <a:srgbClr val="7B3FA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517904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517904" y="396849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죽어도 시스템은 돌아야 한다. 규칙 정책이 그 자리를 메운다.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" y="4553712"/>
            <a:ext cx="10698480" cy="914400"/>
          </a:xfrm>
          <a:prstGeom prst="rect">
            <a:avLst/>
          </a:prstGeom>
          <a:solidFill>
            <a:srgbClr val="F8F5FB"/>
          </a:solidFill>
          <a:ln w="12700">
            <a:solidFill>
              <a:srgbClr val="E0D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" y="4809744"/>
            <a:ext cx="402336" cy="402336"/>
          </a:xfrm>
          <a:prstGeom prst="ellipse">
            <a:avLst/>
          </a:prstGeom>
          <a:solidFill>
            <a:srgbClr val="7B3F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517904" y="4681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분리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517904" y="5010912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이상하게 굴 때 모델 문제인지 배선 문제인지 가른다. 같은 배선에서 규칙이 돌면 배선은 정상이다.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5577840"/>
            <a:ext cx="1069848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49808" y="55412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위치 판단처럼, 규칙이 AI 보다 330배 빠르고 정확한 경우가 실제로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 준비해야 할까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영역별 준비물과 흔한 착각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481328"/>
            <a:ext cx="2194560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2761488" y="1481328"/>
            <a:ext cx="4480560" cy="51206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" name="Shape 4"/>
          <p:cNvSpPr/>
          <p:nvPr/>
        </p:nvSpPr>
        <p:spPr>
          <a:xfrm>
            <a:off x="7242048" y="1481328"/>
            <a:ext cx="4379976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4813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61488" y="148132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준비할 것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42048" y="1481328"/>
            <a:ext cx="4379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착각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993392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199339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993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측정할 줄 아는 사람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42048" y="1993392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전문가부터 뽑자”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706624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270662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61488" y="270662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이미지 + 기대 출력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706624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“데이터만 많으면 된다”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41985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4198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761488" y="341985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운용 조건의 보드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3419856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“일단 좋은 GPU 부터”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133088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41330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761488" y="413308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· 회귀 탐지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4133088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“잘 되면 끝”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846320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5120640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1206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것은 첫 줄입니다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측정할 줄 아는 사람이 없으면 나머지가 다 있어도 데모에서 멈춥니다.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Step 4.2 · 4.2.1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설계 — 산출물 예시: 안전 상태 정의서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C87F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Actuate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AF0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4.2 안전 설계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꺼짐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안전장치는 부품보다 먼저 만든다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붙이고 나서 만들면, 그 사이의 실수 한 번이 기구를 부순다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서보의 “중립 복귀” 가 더 위험할 수 있습니다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Step 4.2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안전 상태는 장치가 아니라 설치 환경이 정합니다. 선언에 적고 펌웨어가 구현합니다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4.2.1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072384" y="2432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죽으면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64224" y="2432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상태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281635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72384" y="281635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켜져 있다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64224" y="281635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07424" y="281635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329915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3101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서보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072384" y="331012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각도를 밀어붙인다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331012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환경이 정한다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07424" y="331012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" y="379293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7824" y="380390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072384" y="380390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돈다 · 기구 파손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64224" y="380390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코일 전원 차단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107424" y="380390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428670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77824" y="429768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히터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072384" y="429768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가열된다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42976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차단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107424" y="42976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9808" y="478048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8" name="Shape 46"/>
          <p:cNvSpPr/>
          <p:nvPr/>
        </p:nvSpPr>
        <p:spPr>
          <a:xfrm>
            <a:off x="749808" y="4846320"/>
            <a:ext cx="10698480" cy="914400"/>
          </a:xfrm>
          <a:prstGeom prst="rect">
            <a:avLst/>
          </a:prstGeom>
          <a:solidFill>
            <a:srgbClr val="FDF8F0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7552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서보의 안전 상태는 자명하지 않습니다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87552" y="52486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중립으로 복귀 → 이동 경로에 사람 손이 있으면 그것을 칩니다.  현재 위치 유지 → 부하가 걸려 있으면 과열됩니다.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 해제 → 중력에 의해 팔이 떨어집니다. 아래에 무엇이 있느냐가 답을 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 · Step 5.1 · 5.1.2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탐지 — 산출물 예시: 골든셋 평가 리포트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예시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 · Operate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F2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5.1 회귀 탐지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5건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2/5 를 그대로 두었다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느슨하게 고쳐 5/5 로 만들면 정확히 틀린 반사신경을 가르치게 된다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골든셋은 통과하라고 있는 게 아니라 알아차리라고 있습니다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 · Step 5.1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colour 만 고정했을 때는 5/5 통과였습니다. action 을 함께 고정하자 2/5 가 됐습니다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5.1.2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6766560" cy="384048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889504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84064" y="2432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4323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2816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LED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889504" y="2816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· red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84064" y="2816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 · red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47104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3262579"/>
            <a:ext cx="67665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 LED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889504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· green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84064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· green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47104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" y="3719779"/>
            <a:ext cx="67665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7824" y="3730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 LED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889504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· blue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084064" y="37307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 · blue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47104" y="3730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" y="4176979"/>
            <a:ext cx="67665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77824" y="4187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yellow LED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889504" y="4187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· yellow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084064" y="4187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 · yellow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47104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9808" y="4634179"/>
            <a:ext cx="67665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77824" y="4645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소등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889504" y="4645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084064" y="4645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 · white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47104" y="46451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9808" y="5091379"/>
            <a:ext cx="67665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3" name="Shape 51"/>
          <p:cNvSpPr/>
          <p:nvPr/>
        </p:nvSpPr>
        <p:spPr>
          <a:xfrm>
            <a:off x="7680960" y="2432304"/>
            <a:ext cx="3767328" cy="1591056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00416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찾았나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900416" y="2871216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모델은 색은 안정적으로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맞히지만 행동 선택이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일관되지 않다.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장면에서 on / none / off 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오간다.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680960" y="4169664"/>
            <a:ext cx="3767328" cy="1591056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900416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일치는 양날이다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7900416" y="4608576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적어둔 필드만 검사한다.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적지 않은 필드의 회귀는 조용히 통과한다.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고정할지가 곧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지키겠다는 선언이다.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49808" y="5138928"/>
            <a:ext cx="6766560" cy="621792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9264" y="52120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느슨하게 되돌리고 싶은 충동이 들 때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69264" y="54681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묻습니다 — “5/5 로 만들면 모델이 좋아지나요?”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월요일에 할 한 가지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하나만 고릅니다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(Pick One)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11055096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121408"/>
            <a:ext cx="420624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20116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목록 쓰기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4086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현장에서 사람이 눈으로 보는 것 5가지를 적는다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89504"/>
            <a:ext cx="11055096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090672"/>
            <a:ext cx="420624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9809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가능성 표시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101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규칙으로 되는 것에 표시한다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58768"/>
            <a:ext cx="11055096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059936"/>
            <a:ext cx="420624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5020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조건으로 재기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793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하나를 주문해 운용 조건에서 측정한다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937760"/>
            <a:ext cx="110550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47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고른 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세 문장으로 끝냅니다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8288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밖에서는 되돌릴 수 없다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359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검증이 구조여야 한다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017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측정하지 않은 것은 모른다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5478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데모와 운용은 다르다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206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항상 낫지 않다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산술을 모델에게 시키지 마라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577840"/>
            <a:ext cx="11055096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557784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· 실습 자료 · 실측 기록 전체 공개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2615184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276148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워크시트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919472" y="3712464"/>
            <a:ext cx="6720840" cy="20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39136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Practice Workshop · Design Your Own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5 · 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대상 ① — 현장 개요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대상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1F3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워크숍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90분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5종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4~5인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한빛정밀(주) 조립 1라인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전자부품 조립 · 2교대 · 작업자 12명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현장의 P-AI 과제를 직접 설계합니다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교육용 가상 사례이며 수치는 실습을 위한 가정입니다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대상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523036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615184" y="2432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15184" y="2816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2,400개 · 2교대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" y="3262579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15184" y="3273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8 · 검사 2 · 반장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" y="3719779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7824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15184" y="3730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육안 · 1인당 1,200개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4176979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41879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15184" y="4187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2.1% · 대부분 색상·체결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" y="4634179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7824" y="4645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615184" y="4645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체크시트 · 수기 집계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" y="5091379"/>
            <a:ext cx="5230368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2432304"/>
            <a:ext cx="523036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64224" y="24323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목소리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2871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담당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364224" y="3127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“눈이 금방 피로해집니다. 교대 끝 무렵이 특히 걱정됩니다.”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반장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364224" y="38953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“불량이 왜 늘었는지 물으면 답할 자료가 없습니다.”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364224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364224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“사람을 늘릴 수는 없습니다. 6개월 안에 숫자로 보여줘야 합니다.”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49808" y="5138928"/>
            <a:ext cx="10698480" cy="621792"/>
          </a:xfrm>
          <a:prstGeom prst="rect">
            <a:avLst/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87552" y="5212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작업 힌트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87552" y="54681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“눈이 피로하다” 는 관측 빈도 문제입니다. “답할 자료가 없다” 는 기록 문제입니다. 둘은 다른 과제입니다.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5 · 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201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대상 ② — 예상 과제 5개와 규칙 가능성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대상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1F3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워크숍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선택 15분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38944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9144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후보 중 하나를 고릅니다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발굴 시간을 줄이기 위해 후보를 미리 제시합니다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되는 것에 AI 를 쓰면 느리고 부정확해집니다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교육용 가상 사례이며 수치는 실습을 위한 가정입니다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대상 · P-AI 방법론 5-Phase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432304"/>
            <a:ext cx="10698480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24323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335024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986784" y="2432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해결할 문제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278624" y="2432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되나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81744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따져볼 점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281635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35024" y="28163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색상 검사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986784" y="28163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불량 전수 육안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78624" y="28163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색상환으로 가능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81744" y="28163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 편차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3244291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" y="32552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335024" y="325526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구역 이탈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986784" y="32552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안전선 침범 감지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278624" y="32552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위치는 산술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381744" y="32552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허용치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" y="3683203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7824" y="36941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335024" y="369417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완료 판정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986784" y="36941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6종 체결 확인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278624" y="369417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 일부만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381744" y="36941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가림 · 각도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9808" y="4122115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77824" y="4133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335024" y="41330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 정리 상태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3986784" y="41330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교대 인수인계 분쟁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278624" y="41330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AI 필요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9381744" y="41330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기준의 주관성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9808" y="4561027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7824" y="45720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335024" y="45720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움직임 감지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986784" y="45720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동작 조기 발견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278624" y="45720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차분으로 가능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9381744" y="4572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바닥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49808" y="4999939"/>
            <a:ext cx="1069848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9" name="Shape 57"/>
          <p:cNvSpPr/>
          <p:nvPr/>
        </p:nvSpPr>
        <p:spPr>
          <a:xfrm>
            <a:off x="749808" y="5047488"/>
            <a:ext cx="10698480" cy="347472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14400" y="50474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진행 순서 (약 90분)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49808" y="5449824"/>
            <a:ext cx="2011680" cy="310896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9808" y="5449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관측 목록 20분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907792" y="5449824"/>
            <a:ext cx="2011680" cy="310896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907792" y="5449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과제 선택 15분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065776" y="5449824"/>
            <a:ext cx="2011680" cy="310896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065776" y="5449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규칙/AI 판정 25분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223760" y="5449824"/>
            <a:ext cx="2011680" cy="310896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223760" y="5449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안전 설계 15분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381744" y="5449824"/>
            <a:ext cx="2011680" cy="310896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81744" y="5449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골든셋 15분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관측 목록 작성 워크시트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사람이 눈으로 보고 있는 것을 먼저 적습니다 (약 20분)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6540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보는 것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188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188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18872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생기는 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572768"/>
            <a:ext cx="1463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572768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572768"/>
            <a:ext cx="35844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915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1463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35915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359152"/>
            <a:ext cx="35844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45536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145536"/>
            <a:ext cx="1463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3145536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3145536"/>
            <a:ext cx="35844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3931920"/>
            <a:ext cx="1463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931920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931920"/>
            <a:ext cx="35844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718304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4718304"/>
            <a:ext cx="1463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4718304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718304"/>
            <a:ext cx="35844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577840"/>
            <a:ext cx="11265408" cy="822960"/>
          </a:xfrm>
          <a:prstGeom prst="rect">
            <a:avLst/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“판단 기준” 이 숫자나 규칙으로 적히면 규칙 과제, “담당자 판단” 이면 AI 후보입니다.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59801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“틀리면 생기는 일” 이 비어 있으면 그 관측은 애초에 중요하지 않다는 뜻입니다. 지우십시오.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과제 선택 워크시트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5개를 3기준으로 평가하고 팀이 집중할 1개를 선택합니다 (약 15분)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6540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해결할 문제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큰가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환영하나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0" y="11887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572768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1572768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157276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157276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색상 검사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572768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01568" y="15727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불량 전수 육안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57276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157276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35240" y="157276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44968" y="157276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0" y="157276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70848" y="157276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287000" y="1572768"/>
            <a:ext cx="13898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28" y="157276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139696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2139696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" y="213969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4128" y="213969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구역 이탈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2139696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01568" y="21396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안전선 침범 감지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139696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9088" y="2139696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35240" y="2139696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44968" y="2139696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139696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70848" y="2139696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287000" y="2139696"/>
            <a:ext cx="13898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396728" y="213969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2706624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2706624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14400" y="270662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24128" y="2706624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완료 판정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91840" y="2706624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01568" y="27066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6종 체결 확인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2706624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19088" y="2706624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35240" y="2706624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44968" y="2706624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961120" y="2706624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70848" y="2706624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287000" y="2706624"/>
            <a:ext cx="13898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396728" y="270662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3273552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66928" y="3273552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14400" y="327355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24128" y="32735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 정리 상태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291840" y="3273552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401568" y="327355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교대 인수인계 분쟁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309360" y="32735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19088" y="327355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635240" y="32735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744968" y="327355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961120" y="327355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070848" y="327355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0287000" y="3273552"/>
            <a:ext cx="13898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396728" y="32735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7200" y="3840480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66928" y="3840480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14400" y="384048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24128" y="384048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움직임 감지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291840" y="3840480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01568" y="384048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동작 조기 발견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309360" y="384048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419088" y="384048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635240" y="384048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744968" y="384048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8961120" y="384048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070848" y="384048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10287000" y="3840480"/>
            <a:ext cx="13898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396728" y="38404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457200" y="4462272"/>
            <a:ext cx="11265408" cy="384048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40080" y="4462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결과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457200" y="4864608"/>
            <a:ext cx="1828800" cy="54864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457200" y="4864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과제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286000" y="4864608"/>
            <a:ext cx="9436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5413248"/>
            <a:ext cx="1828800" cy="82296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57200" y="54132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사유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286000" y="5413248"/>
            <a:ext cx="94366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572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기준 1~5점 (5점이 가장 좋음)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규칙 / AI 판정 워크시트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실습의 핵심입니다. 판단 항목마다 규칙으로 되는지 먼저 따집니다 (약 25분)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6540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항목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188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되나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(무엇을 재면 되나)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118872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572768"/>
            <a:ext cx="173736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572768"/>
            <a:ext cx="36576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572768"/>
            <a:ext cx="312724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9152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359152"/>
            <a:ext cx="173736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359152"/>
            <a:ext cx="36576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2359152"/>
            <a:ext cx="312724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45536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145536"/>
            <a:ext cx="173736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145536"/>
            <a:ext cx="36576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3145536"/>
            <a:ext cx="312724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931920"/>
            <a:ext cx="173736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931920"/>
            <a:ext cx="36576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3931920"/>
            <a:ext cx="312724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718304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718304"/>
            <a:ext cx="173736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4718304"/>
            <a:ext cx="36576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4718304"/>
            <a:ext cx="312724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577840"/>
            <a:ext cx="11265408" cy="822960"/>
          </a:xfrm>
          <a:prstGeom prst="rect">
            <a:avLst/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색은 의미 해석이고 위치는 산술입니다. 산술을 모델에게 시키지 마십시오.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59801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“근거” 열에 무엇을 재면 되는지 쓸 수 있으면 규칙 과제입니다. 쓸 수 없으면 AI 후보입니다.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규칙 / AI 판정 · 작성 예시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커리큘럼의 실측값으로 채운 예시입니다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893808" y="768096"/>
            <a:ext cx="1828800" cy="274320"/>
          </a:xfrm>
          <a:prstGeom prst="rect">
            <a:avLst/>
          </a:prstGeom>
          <a:solidFill>
            <a:srgbClr val="C87F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93808" y="768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예시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1126540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항목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188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되나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(무엇을 재면 되나)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118872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1572768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색상이 맞는가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572768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1572768"/>
            <a:ext cx="1517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 조건부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572768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47488" y="1572768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색상환 각도. 단 조명이 고정돼야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95360" y="1572768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05088" y="157276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+ 노출 고정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359152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2359152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작업자가 구역 안인가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359152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10128" y="2359152"/>
            <a:ext cx="1517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된다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59152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47488" y="2359152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위치 좌표. 실측 9/9 · 7.4 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0" y="2359152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05088" y="2359152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(AI 는 3/9)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145536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145536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조립이 끝났는가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3145536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10128" y="3145536"/>
            <a:ext cx="1517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 일부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3145536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47488" y="3145536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6종의 유무. 가림이 변수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95360" y="3145536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05088" y="314553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먼저, 실패분만 AI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3931920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작업대가 정리됐는가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0" y="3931920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10128" y="3931920"/>
            <a:ext cx="1517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안 된다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37760" y="3931920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47488" y="3931920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“정리” 를 픽셀로 정의할 수 없다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595360" y="3931920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05088" y="3931920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필요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4718304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6928" y="4718304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움직임인가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4718304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10128" y="4718304"/>
            <a:ext cx="1517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된다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37760" y="4718304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47488" y="4718304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차분. 노이즈 바닥 0.300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595360" y="4718304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05088" y="4718304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(임계 0.601)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5577840"/>
            <a:ext cx="11265408" cy="822960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76656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중 넷이 규칙으로 되거나 조건부로 됩니다. AI 가 꼭 필요한 것은 하나뿐입니다.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676656" y="59801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하나(“정리되어 있나”)가 AI 를 쓰는 이유이고, 나머지 넷은 AI 를 쓰지 않는 이유입니다.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안전 설계 워크시트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액추에이터를 붙이기 전에 작성합니다 (약 15분)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6540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188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죽으면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상태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 주기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트립 시 복귀 방법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572768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1572768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572768"/>
            <a:ext cx="274320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572768"/>
            <a:ext cx="164592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1572768"/>
            <a:ext cx="1572768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87168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487168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487168"/>
            <a:ext cx="274320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487168"/>
            <a:ext cx="164592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2487168"/>
            <a:ext cx="1572768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01568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401568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401568"/>
            <a:ext cx="274320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401568"/>
            <a:ext cx="164592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3401568"/>
            <a:ext cx="1572768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15968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4315968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4315968"/>
            <a:ext cx="274320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4315968"/>
            <a:ext cx="164592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9840" y="4315968"/>
            <a:ext cx="1572768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66944"/>
            <a:ext cx="11265408" cy="1133856"/>
          </a:xfrm>
          <a:prstGeom prst="rect">
            <a:avLst/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" y="5358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안전 상태는 장치가 아니라 설치 환경이 정합니다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76656" y="56692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서보의 “중립 복귀” 는 이동 경로에 사람 손이 있으면 위험합니다. “현재 위치 유지” 는 부하가 걸려 있으면 과열됩니다.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“토크 해제” 는 팔이 떨어집니다. 아래에 무엇이 있느냐가 답을 정합니다 — 그래서 선언에 적고 펌웨어가 구현합니다.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골든셋 설계 워크시트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나빠졌는지 자동으로 알아차리기 위한 기준을 만듭니다 (약 15분)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65408" cy="384048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사례명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(어떤 장면)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11887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사례가 지키는 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572768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72768"/>
            <a:ext cx="27432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1572768"/>
            <a:ext cx="285292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9152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359152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359152"/>
            <a:ext cx="27432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2359152"/>
            <a:ext cx="285292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45536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3145536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145536"/>
            <a:ext cx="27432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3145536"/>
            <a:ext cx="285292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3931920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931920"/>
            <a:ext cx="27432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3931920"/>
            <a:ext cx="285292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718304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4718304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718304"/>
            <a:ext cx="2743200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4718304"/>
            <a:ext cx="2852928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577840"/>
            <a:ext cx="11265408" cy="822960"/>
          </a:xfrm>
          <a:prstGeom prst="rect">
            <a:avLst/>
          </a:prstGeom>
          <a:solidFill>
            <a:srgbClr val="FFF8EC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기대값을 적지 않은 필드는 회귀가 조용히 통과합니다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59801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사례가 지키는 것” 을 반드시 적으십시오. 몇 주 뒤 실패했을 때 무엇을 지키려 했는지 알아야 고칠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발표 양식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5분. 한 문장 비전과 숫자 세 개로 발표합니다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96528" y="274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추진과제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93808" y="2743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65408" cy="1188720"/>
          </a:xfrm>
          <a:prstGeom prst="rect">
            <a:avLst/>
          </a:prstGeom>
          <a:solidFill>
            <a:srgbClr val="EAF0FA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비전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159105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“___ 가 아니라 ___ 하는 현장”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360273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96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① 현재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As-Is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42816" y="2505456"/>
            <a:ext cx="360273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5696" y="2596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② 목표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언제까지 얼마로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8432" y="2505456"/>
            <a:ext cx="360273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1312" y="2596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③ 투자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얼마로 어디까지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112654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/ AI 경계 — 무엇을 규칙으로 하고 무엇을 AI 로 하는가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65408" cy="822960"/>
          </a:xfrm>
          <a:prstGeom prst="rect">
            <a:avLst/>
          </a:prstGeom>
          <a:solidFill>
            <a:srgbClr val="F4F7F4"/>
          </a:solidFill>
          <a:ln w="12700">
            <a:solidFill>
              <a:srgbClr val="D5E3D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가장 중요한 것은 “무엇을 AI 로 하지 않기로 했는가” 입니다.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" y="598017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것을 AI 로 하겠다는 계획은 아무것도 측정하지 않았다는 뜻입니다.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 색인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슬라이드에 쓰인 모든 수치의 출처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389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3898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문서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77393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사망 · 3B 2.6GB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7739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tech/notes/vlm-on-orin-nano.md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231136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24942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34ms / 3,306ms 지연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24942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tech/notes/vs2-latency-baseline.md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706624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27249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9/9 vs VLM 3/9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72491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tech/notes/direction-rule-vs-vlm.md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82112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2004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0.300 · 증폭 3.2배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2004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tech/notes/motion-threshold.md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" y="367588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밝기 +0.02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67588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tech/notes/led-camera-detection.md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" y="415137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애노드 · 공통 저항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15137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tech/notes/rgb-led-calibration.md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08576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62686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12색 6/12 · 한 칸 이내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462686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visuals/vlm-colour-loop.html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84064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6384" y="510235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0줄 장치 추가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510235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tech/adr/0010-declare-actuators-as-data.md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559552"/>
            <a:ext cx="1105509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6384" y="5577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18 → 2회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55778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tech/adr/0007-quantise-decisions-to-observation-quality.md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943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모든 수치는 Jetson Orin Nano Super 8GB 한 대에서 직접 측정한 값입니다.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대본과 축약판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실패 시 대안과 시간별 구성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543153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543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대본 (Demo Script)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8288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792224" y="18288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vs2_demo.py --policy vlm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61104" y="1828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페이지 재생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3153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3957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792224" y="23957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↔ MCU 점멸 비교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61104" y="23957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907792"/>
            <a:ext cx="543153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296265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792224" y="29626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rainbow.py --period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9626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543153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352958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3-5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792224" y="35295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색지를 바꿔 들기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261104" y="35295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이미지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041648"/>
            <a:ext cx="5431536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4206240"/>
            <a:ext cx="5431536" cy="914400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297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15분 전 점검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572000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/dev/video0 /dev/ttyACM0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 test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./host/evaluate.py   ← health 만 보면 모릅니다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08192" y="1389888"/>
            <a:ext cx="5513832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08192" y="1389888"/>
            <a:ext cx="551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축약판 구성 (Short Versions)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08192" y="1828800"/>
            <a:ext cx="5513832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0" y="1901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18장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327648" y="22128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· 1-2 · 1-5 · 2-3 · 2-8 · 3-1~3 · 4-2 · 4-4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08192" y="2688336"/>
            <a:ext cx="5513832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27648" y="27614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90분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0" y="27614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28장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30723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+ 계약(2-5·2-6) · 측정(3-4) · 준비(4-3)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08192" y="3547872"/>
            <a:ext cx="5513832" cy="768096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27648" y="3621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165분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424160" y="36210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62장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327648" y="3931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08192" y="4480560"/>
            <a:ext cx="5513832" cy="768096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27648" y="4553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60분에서도 빼지 않는 것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327648" y="4846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사망 (1-5) · 위치 실패 (2-8)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sicalAI">
  <a:themeElements>
    <a:clrScheme name="PhysicalAI">
      <a:dk1>
        <a:srgbClr val="1A1A1A"/>
      </a:dk1>
      <a:lt1>
        <a:srgbClr val="FFFFFF"/>
      </a:lt1>
      <a:dk2>
        <a:srgbClr val="404040"/>
      </a:dk2>
      <a:lt2>
        <a:srgbClr val="F2F2F2"/>
      </a:lt2>
      <a:accent1>
        <a:srgbClr val="1F3A93"/>
      </a:accent1>
      <a:accent2>
        <a:srgbClr val="E8963C"/>
      </a:accent2>
      <a:accent3>
        <a:srgbClr val="7F7F7F"/>
      </a:accent3>
      <a:accent4>
        <a:srgbClr val="7B3FA0"/>
      </a:accent4>
      <a:accent5>
        <a:srgbClr val="1F8A4C"/>
      </a:accent5>
      <a:accent6>
        <a:srgbClr val="C0392B"/>
      </a:accent6>
      <a:hlink>
        <a:srgbClr val="1F3A93"/>
      </a:hlink>
      <a:folHlink>
        <a:srgbClr val="7F7F7F"/>
      </a:folHlink>
    </a:clrScheme>
    <a:fontScheme name="PhysicalAI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AI: 챗봇을 넘어 격전지로</dc:title>
  <dc:subject>PptxGenJS Presentation</dc:subject>
  <dc:creator>Physical AI Curriculum</dc:creator>
  <cp:lastModifiedBy>Physical AI Curriculum</cp:lastModifiedBy>
  <cp:revision>1</cp:revision>
  <dcterms:created xsi:type="dcterms:W3CDTF">2026-10-18T13:01:57Z</dcterms:created>
  <dcterms:modified xsi:type="dcterms:W3CDTF">2026-10-18T13:01:57Z</dcterms:modified>
</cp:coreProperties>
</file>