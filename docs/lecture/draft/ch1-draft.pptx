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설명 없이 바로 S2 시연으로 넘어간다.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1 간지. 25분.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 모두 텍스트 입출력이고, 틀려도 되돌릴 수 있다는 점을 강조한다.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1부의 핵심. 다섯 행을 하나씩 짚는다.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실측값만 쓴다. 업계 전망이나 추정치는 넣지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60분 축약판에서도 빼지 않는다. PoC 와 현장의 차이를 만드는 지점.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" y="1115568"/>
            <a:ext cx="3584448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AFC8E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9808" y="1115568"/>
            <a:ext cx="3584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220" kern="0" dirty="0">
                <a:solidFill>
                  <a:srgbClr val="DCE8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PHYSICAL AI · EDGE INTELLIGENCE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1627632"/>
            <a:ext cx="5486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Physical AI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2395728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챗봇을 넘어 </a:t>
            </a:r>
            <a:pPr indent="0" marL="0">
              <a:buNone/>
            </a:pPr>
            <a:r>
              <a:rPr lang="en-US" sz="5200" b="1" dirty="0">
                <a:solidFill>
                  <a:srgbClr val="E8A3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격전지</a:t>
            </a:r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749808" y="3529584"/>
            <a:ext cx="1371600" cy="32004"/>
          </a:xfrm>
          <a:prstGeom prst="rect">
            <a:avLst/>
          </a:prstGeom>
          <a:solidFill>
            <a:srgbClr val="E8A35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373075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Physical AI: From Chatbots to the Contested Ground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4078224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0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Phase 11 Step · 22 산출물 · 실측 데이터 기반 · LED 실습 포함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58704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BD2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 → 인지 → 판단 → 구동 → 운용  |  2026.10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97373" y="507492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A35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97373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277917" y="54864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57262" y="433425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A35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57262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137806" y="474573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645652" y="296265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A35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45652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426196" y="337413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875520" y="1591056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A35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75520" y="1591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656064" y="200253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구동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849356" y="795528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A35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849356" y="795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629900" y="120700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운용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8A8A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3042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spc="2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402336" y="2615184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200" dirty="0"/>
          </a:p>
        </p:txBody>
      </p:sp>
      <p:sp>
        <p:nvSpPr>
          <p:cNvPr id="5" name="Text 3"/>
          <p:cNvSpPr txBox="1"/>
          <p:nvPr/>
        </p:nvSpPr>
        <p:spPr>
          <a:xfrm>
            <a:off x="4892040" y="2761488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패러다임 시프트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919472" y="3712464"/>
            <a:ext cx="6720840" cy="20117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92040" y="3913632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Paradigm Shift · From Screen to Field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1-1. </a:t>
            </a:r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안의 AI</a:t>
            </a:r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지난 3년, AI 는 텍스트를 주고받았다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42416"/>
            <a:ext cx="11055096" cy="2560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389888"/>
            <a:ext cx="11055096" cy="365760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38988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안의 AI (On-Screen AI)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956816" y="2103120"/>
            <a:ext cx="896112" cy="71323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956816" y="2103120"/>
            <a:ext cx="896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962656"/>
            <a:ext cx="3675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챗봇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328416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Chatbot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719072" y="3657600"/>
            <a:ext cx="1371600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3785616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묻고 모델이 답한다. 대화가 끝나면 세상에는 아무것도 남지 않는다.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69664" y="2084832"/>
            <a:ext cx="10973" cy="2304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3" name="Shape 11"/>
          <p:cNvSpPr/>
          <p:nvPr/>
        </p:nvSpPr>
        <p:spPr>
          <a:xfrm>
            <a:off x="5641848" y="2103120"/>
            <a:ext cx="896112" cy="71323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41848" y="2103120"/>
            <a:ext cx="896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500" dirty="0"/>
          </a:p>
        </p:txBody>
      </p:sp>
      <p:sp>
        <p:nvSpPr>
          <p:cNvPr id="15" name="Text 13"/>
          <p:cNvSpPr txBox="1"/>
          <p:nvPr/>
        </p:nvSpPr>
        <p:spPr>
          <a:xfrm>
            <a:off x="4251960" y="2962656"/>
            <a:ext cx="3675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코파일럿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251960" y="3328416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Copilot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04104" y="3657600"/>
            <a:ext cx="1371600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26280" y="3785616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쓰던 것을 이어서 쓴다. 최종 판단은 사람이 한다.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854696" y="2084832"/>
            <a:ext cx="10973" cy="2304288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0" name="Shape 18"/>
          <p:cNvSpPr/>
          <p:nvPr/>
        </p:nvSpPr>
        <p:spPr>
          <a:xfrm>
            <a:off x="9326880" y="2103120"/>
            <a:ext cx="896112" cy="71323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26880" y="2103120"/>
            <a:ext cx="896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500" dirty="0"/>
          </a:p>
        </p:txBody>
      </p:sp>
      <p:sp>
        <p:nvSpPr>
          <p:cNvPr id="22" name="Text 20"/>
          <p:cNvSpPr txBox="1"/>
          <p:nvPr/>
        </p:nvSpPr>
        <p:spPr>
          <a:xfrm>
            <a:off x="7936992" y="2962656"/>
            <a:ext cx="3675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요약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936992" y="3328416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Summarization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089136" y="3657600"/>
            <a:ext cx="1371600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11312" y="3785616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것을 짧게 만든다. 원본은 그대로 남아 있고, 요약이 틀려도 원본을 다시 읽으면 된다.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66928" y="4956048"/>
            <a:ext cx="11055096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495604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공통점 — </a:t>
            </a:r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틀려도 되돌릴 수 있다.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다시 생성하면 그만이다.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66928" y="6254496"/>
            <a:ext cx="11055096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1-2. </a:t>
            </a:r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밖으로 나오면</a:t>
            </a:r>
            <a:pPr indent="0" marL="0">
              <a:buNone/>
            </a:pPr>
            <a:r>
              <a:rPr lang="en-US" sz="13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규칙이 바뀐다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42416"/>
            <a:ext cx="11055096" cy="2560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0" y="1481328"/>
            <a:ext cx="4352544" cy="56692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5" name="Shape 3"/>
          <p:cNvSpPr/>
          <p:nvPr/>
        </p:nvSpPr>
        <p:spPr>
          <a:xfrm>
            <a:off x="7095744" y="1481328"/>
            <a:ext cx="4526280" cy="566928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0" y="1481328"/>
            <a:ext cx="4352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챗봇형 AI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095744" y="1481328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Physical AI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11055096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204825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048256"/>
            <a:ext cx="4352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095744" y="2048256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물리적 상태 변화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2615184"/>
            <a:ext cx="11055096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261518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틀렸을 때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2615184"/>
            <a:ext cx="4352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재생성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095744" y="2615184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되돌릴 수 없음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3182112"/>
            <a:ext cx="11055096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66928" y="318211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 허용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2743200" y="3182112"/>
            <a:ext cx="4352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 초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095744" y="3182112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밀리초 (제어)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3749040"/>
            <a:ext cx="11055096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66928" y="37490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2743200" y="3749040"/>
            <a:ext cx="4352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입력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095744" y="374904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센서가 계속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66928" y="4315968"/>
            <a:ext cx="11055096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66928" y="43159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비용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2743200" y="4315968"/>
            <a:ext cx="4352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어색한 문장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7095744" y="4315968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기구 파손 · 안전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66928" y="4882896"/>
            <a:ext cx="11055096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29" name="Shape 27"/>
          <p:cNvSpPr/>
          <p:nvPr/>
        </p:nvSpPr>
        <p:spPr>
          <a:xfrm>
            <a:off x="566928" y="5230368"/>
            <a:ext cx="11055096" cy="65836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66928" y="5230368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“모터는 Ctrl+Z 가 없습니다”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66928" y="6254496"/>
            <a:ext cx="11055096" cy="10973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20116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· Step 1.2 · 1.2.1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3840480" y="20116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진단 — 산출물 예시: 하드웨어 적합성 판정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40112" y="173736"/>
            <a:ext cx="1682496" cy="365760"/>
          </a:xfrm>
          <a:prstGeom prst="rect">
            <a:avLst/>
          </a:prstGeom>
          <a:solidFill>
            <a:srgbClr val="0F7B8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40112" y="173736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데이터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75488" y="676656"/>
            <a:ext cx="11247120" cy="5230368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914400"/>
            <a:ext cx="2395728" cy="329184"/>
          </a:xfrm>
          <a:prstGeom prst="roundRect">
            <a:avLst>
              <a:gd name="adj" fmla="val 50000"/>
            </a:avLst>
          </a:prstGeom>
          <a:solidFill>
            <a:srgbClr val="0F7B8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91440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· Observe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36976" y="914400"/>
            <a:ext cx="1883664" cy="329184"/>
          </a:xfrm>
          <a:prstGeom prst="roundRect">
            <a:avLst>
              <a:gd name="adj" fmla="val 50000"/>
            </a:avLst>
          </a:prstGeom>
          <a:solidFill>
            <a:srgbClr val="E3F1F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36976" y="914400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1.2 환경 진단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875520" y="914400"/>
            <a:ext cx="1572768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75520" y="91440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1~3초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211312" y="914400"/>
            <a:ext cx="1572768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11312" y="91440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 판별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12/12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547104" y="914400"/>
            <a:ext cx="1572768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47104" y="91440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2.6 GB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133502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8GB 엣지 보드에서 무엇이 되나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190195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Jetson Orin Nano 8GB · 인터넷 연결 없이 · 실제 측정값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5488" y="6035040"/>
            <a:ext cx="11247120" cy="512064"/>
          </a:xfrm>
          <a:prstGeom prst="rect">
            <a:avLst/>
          </a:prstGeom>
          <a:solidFill>
            <a:srgbClr val="0F7B8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86384" y="60350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온디바이스에서 비전 모델이 실제로 돕니다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9144000" y="603504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· Step 1.2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75488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측정 환경: Jetson Orin Nano Super 8GB · JetPack 6 · IMX219 · Qwen2.5-VL-3B Q4_K_M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65836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1.2.1 · P-AI 방법론 5-Phase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49808" y="2395728"/>
            <a:ext cx="5394960" cy="384048"/>
          </a:xfrm>
          <a:prstGeom prst="rect">
            <a:avLst/>
          </a:prstGeom>
          <a:solidFill>
            <a:srgbClr val="0F7B8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77824" y="239572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항목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3291840" y="23957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77824" y="277977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3291840" y="277977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Qwen2.5-VL 3B (Q4_K_M)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49808" y="3244291"/>
            <a:ext cx="539496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77824" y="325526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3291840" y="325526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2.59 GB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49808" y="3719779"/>
            <a:ext cx="539496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77824" y="373075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잔여 메모리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3291840" y="373075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2.0 GB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49808" y="4195267"/>
            <a:ext cx="539496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77824" y="420624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 판별 정확도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3291840" y="42062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12색 전부 한 칸 이내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49808" y="4670755"/>
            <a:ext cx="539496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77824" y="468172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지연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3291840" y="468172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1.3 ~ 3.3 초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749808" y="5146243"/>
            <a:ext cx="539496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77824" y="515721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3291840" y="515721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불필요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749808" y="5621731"/>
            <a:ext cx="5394960" cy="10973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45" name="Shape 43"/>
          <p:cNvSpPr/>
          <p:nvPr/>
        </p:nvSpPr>
        <p:spPr>
          <a:xfrm>
            <a:off x="6400800" y="2395728"/>
            <a:ext cx="5029200" cy="1389888"/>
          </a:xfrm>
          <a:prstGeom prst="roundRect">
            <a:avLst>
              <a:gd name="adj" fmla="val 3289"/>
            </a:avLst>
          </a:prstGeom>
          <a:solidFill>
            <a:srgbClr val="F7FAFB"/>
          </a:solidFill>
          <a:ln w="12700">
            <a:solidFill>
              <a:srgbClr val="D7E6E9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638544" y="25420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3B 인가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638544" y="2889504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7B 는 적재되지만 운용 중 죽는다.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3B 가 더 빠르고 정확하며 유일하게 동작했다.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400800" y="3968496"/>
            <a:ext cx="5029200" cy="1389888"/>
          </a:xfrm>
          <a:prstGeom prst="roundRect">
            <a:avLst>
              <a:gd name="adj" fmla="val 3289"/>
            </a:avLst>
          </a:prstGeom>
          <a:solidFill>
            <a:srgbClr val="F7FAFB"/>
          </a:solidFill>
          <a:ln w="12700">
            <a:solidFill>
              <a:srgbClr val="D7E6E9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638544" y="41148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전제인가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6638544" y="4462272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 를 끄면 가용이 2.3GB → 6.4GB 가 된다.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데스크톱이 떠 있으면 아무것도 올라가지 않는다.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20116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· Step 1.2 · 1.2.2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3840480" y="20116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진단 — 실패 사례: 데모는 되고 운용은 안 된 경우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0040112" y="173736"/>
            <a:ext cx="1682496" cy="365760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40112" y="173736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사례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75488" y="676656"/>
            <a:ext cx="11247120" cy="5230368"/>
          </a:xfrm>
          <a:prstGeom prst="roundRect">
            <a:avLst>
              <a:gd name="adj" fmla="val 1049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914400"/>
            <a:ext cx="2395728" cy="329184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91440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· Observe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36976" y="914400"/>
            <a:ext cx="1883664" cy="329184"/>
          </a:xfrm>
          <a:prstGeom prst="roundRect">
            <a:avLst>
              <a:gd name="adj" fmla="val 50000"/>
            </a:avLst>
          </a:prstGeom>
          <a:solidFill>
            <a:srgbClr val="F7E4E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36976" y="914400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0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1.2 환경 진단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875520" y="914400"/>
            <a:ext cx="1572768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75520" y="91440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스왑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3.7GB 전소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211312" y="914400"/>
            <a:ext cx="1572768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11312" y="91440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잔여 </a:t>
            </a:r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 MiB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133502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7B 는 죽었다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190195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보드, 같은 모델 계열. 조건만 운용 상태로 바꿨을 때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5488" y="6035040"/>
            <a:ext cx="11247120" cy="512064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6384" y="603504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적재되는 것과 운용되는 것은 다릅니다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603504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· Step 1.2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75488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측정 환경: 동일 보드에서 카메라 파이프라인·제어 루프를 함께 가동한 상태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65836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6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1.2.2 · P-AI 방법론 5-Phase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49808" y="2432304"/>
            <a:ext cx="3401568" cy="1792224"/>
          </a:xfrm>
          <a:prstGeom prst="roundRect">
            <a:avLst>
              <a:gd name="adj" fmla="val 2551"/>
            </a:avLst>
          </a:prstGeom>
          <a:solidFill>
            <a:srgbClr val="FCFCFC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9264" y="2651760"/>
            <a:ext cx="420624" cy="420624"/>
          </a:xfrm>
          <a:prstGeom prst="ellipse">
            <a:avLst/>
          </a:prstGeom>
          <a:solidFill>
            <a:srgbClr val="1F8A4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9264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499616" y="26700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적재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969264" y="3255264"/>
            <a:ext cx="2962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8A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969264" y="3767328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가용 530 MB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151376" y="3127248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4361688" y="2432304"/>
            <a:ext cx="3401568" cy="1792224"/>
          </a:xfrm>
          <a:prstGeom prst="roundRect">
            <a:avLst>
              <a:gd name="adj" fmla="val 2551"/>
            </a:avLst>
          </a:prstGeom>
          <a:solidFill>
            <a:srgbClr val="FCFCFC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81144" y="2651760"/>
            <a:ext cx="420624" cy="420624"/>
          </a:xfrm>
          <a:prstGeom prst="ellipse">
            <a:avLst/>
          </a:prstGeom>
          <a:solidFill>
            <a:srgbClr val="D6891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581144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111496" y="26700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카메라 · 제어 루프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4581144" y="3255264"/>
            <a:ext cx="2962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689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견딤</a:t>
            </a:r>
            <a:endParaRPr lang="en-US" sz="2400" dirty="0"/>
          </a:p>
        </p:txBody>
      </p:sp>
      <p:sp>
        <p:nvSpPr>
          <p:cNvPr id="34" name="Text 32"/>
          <p:cNvSpPr txBox="1"/>
          <p:nvPr/>
        </p:nvSpPr>
        <p:spPr>
          <a:xfrm>
            <a:off x="4581144" y="3767328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가용 393 MB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7763256" y="3127248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7973568" y="2432304"/>
            <a:ext cx="3401568" cy="1792224"/>
          </a:xfrm>
          <a:prstGeom prst="roundRect">
            <a:avLst>
              <a:gd name="adj" fmla="val 2551"/>
            </a:avLst>
          </a:prstGeom>
          <a:solidFill>
            <a:srgbClr val="FCFCFC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93024" y="2651760"/>
            <a:ext cx="420624" cy="420624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193024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8723376" y="26700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추론 요청 1건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8193024" y="3255264"/>
            <a:ext cx="2962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사망</a:t>
            </a:r>
            <a:endParaRPr lang="en-US" sz="2400" dirty="0"/>
          </a:p>
        </p:txBody>
      </p:sp>
      <p:sp>
        <p:nvSpPr>
          <p:cNvPr id="41" name="Text 39"/>
          <p:cNvSpPr txBox="1"/>
          <p:nvPr/>
        </p:nvSpPr>
        <p:spPr>
          <a:xfrm>
            <a:off x="8193024" y="3767328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스왑 3.7GB 전소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49808" y="4462272"/>
            <a:ext cx="10698480" cy="1298448"/>
          </a:xfrm>
          <a:prstGeom prst="rect">
            <a:avLst/>
          </a:prstGeom>
          <a:solidFill>
            <a:srgbClr val="FBF4F3"/>
          </a:solidFill>
          <a:ln w="12700">
            <a:solidFill>
              <a:srgbClr val="EFD6D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87552" y="45902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놓쳤나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987552" y="4919472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인코딩에 필요한 연산 버퍼 약 700MB 가 들어갈 자리가 없다. 서버 단독으로는 적재되고, 카메라와 제어 루프까지도 견딘다. 그러나 추론 요청이 들어오는 순간 죽는다.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987552" y="5358384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새 모델을 검토할 때는 반드시 제어 루프를 함께 돌리면서 재야 한다.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11448288" y="6565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hysicalAI">
  <a:themeElements>
    <a:clrScheme name="PhysicalAI">
      <a:dk1>
        <a:srgbClr val="1A1A1A"/>
      </a:dk1>
      <a:lt1>
        <a:srgbClr val="FFFFFF"/>
      </a:lt1>
      <a:dk2>
        <a:srgbClr val="404040"/>
      </a:dk2>
      <a:lt2>
        <a:srgbClr val="F2F2F2"/>
      </a:lt2>
      <a:accent1>
        <a:srgbClr val="1F3A93"/>
      </a:accent1>
      <a:accent2>
        <a:srgbClr val="E8963C"/>
      </a:accent2>
      <a:accent3>
        <a:srgbClr val="7F7F7F"/>
      </a:accent3>
      <a:accent4>
        <a:srgbClr val="7B3FA0"/>
      </a:accent4>
      <a:accent5>
        <a:srgbClr val="1F8A4C"/>
      </a:accent5>
      <a:accent6>
        <a:srgbClr val="C0392B"/>
      </a:accent6>
      <a:hlink>
        <a:srgbClr val="1F3A93"/>
      </a:hlink>
      <a:folHlink>
        <a:srgbClr val="7F7F7F"/>
      </a:folHlink>
    </a:clrScheme>
    <a:fontScheme name="PhysicalAI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Physical AI: 챗봇을 넘어 격전지로</dc:title>
  <dc:subject>PptxGenJS Presentation</dc:subject>
  <dc:creator>Physical AI Curriculum</dc:creator>
  <cp:lastModifiedBy>Physical AI Curriculum</cp:lastModifiedBy>
  <cp:revision>1</cp:revision>
  <dcterms:created xsi:type="dcterms:W3CDTF">2026-10-18T10:23:52Z</dcterms:created>
  <dcterms:modified xsi:type="dcterms:W3CDTF">2026-10-18T10:23:52Z</dcterms:modified>
</cp:coreProperties>
</file>